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90" r:id="rId5"/>
    <p:sldId id="257" r:id="rId6"/>
    <p:sldId id="258" r:id="rId7"/>
    <p:sldId id="271" r:id="rId8"/>
    <p:sldId id="259" r:id="rId9"/>
    <p:sldId id="315" r:id="rId10"/>
    <p:sldId id="316" r:id="rId11"/>
    <p:sldId id="317" r:id="rId12"/>
    <p:sldId id="277" r:id="rId13"/>
    <p:sldId id="280" r:id="rId14"/>
    <p:sldId id="281" r:id="rId15"/>
    <p:sldId id="283" r:id="rId16"/>
    <p:sldId id="284" r:id="rId17"/>
    <p:sldId id="285" r:id="rId18"/>
    <p:sldId id="286" r:id="rId19"/>
    <p:sldId id="287" r:id="rId20"/>
    <p:sldId id="288" r:id="rId21"/>
    <p:sldId id="289" r:id="rId22"/>
    <p:sldId id="260" r:id="rId23"/>
    <p:sldId id="279" r:id="rId24"/>
    <p:sldId id="272" r:id="rId25"/>
    <p:sldId id="261" r:id="rId26"/>
    <p:sldId id="273" r:id="rId27"/>
    <p:sldId id="278" r:id="rId28"/>
    <p:sldId id="270" r:id="rId29"/>
    <p:sldId id="282" r:id="rId30"/>
    <p:sldId id="268" r:id="rId31"/>
  </p:sldIdLst>
  <p:sldSz cx="9144000" cy="5143500" type="screen16x9"/>
  <p:notesSz cx="6858000" cy="9144000"/>
  <p:embeddedFontLst>
    <p:embeddedFont>
      <p:font typeface="Century Gothic" panose="020B0502020202020204"/>
      <p:regular r:id="rId35"/>
      <p:bold r:id="rId36"/>
      <p:italic r:id="rId37"/>
      <p:boldItalic r:id="rId38"/>
    </p:embeddedFont>
    <p:embeddedFont>
      <p:font typeface="Calibri" panose="020F0502020204030204"/>
      <p:regular r:id="rId39"/>
      <p:bold r:id="rId40"/>
      <p:italic r:id="rId41"/>
      <p:boldItalic r:id="rId42"/>
    </p:embeddedFont>
    <p:embeddedFont>
      <p:font typeface="Cambria" panose="02040503050406030204" pitchFamily="18"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440E993E-7D10-45A0-A7CD-E24CBAC95460}">
          <p14:sldIdLst>
            <p14:sldId id="256"/>
            <p14:sldId id="290"/>
            <p14:sldId id="257"/>
            <p14:sldId id="258"/>
            <p14:sldId id="271"/>
            <p14:sldId id="259"/>
            <p14:sldId id="315"/>
            <p14:sldId id="316"/>
            <p14:sldId id="317"/>
            <p14:sldId id="277"/>
            <p14:sldId id="280"/>
            <p14:sldId id="281"/>
            <p14:sldId id="283"/>
            <p14:sldId id="284"/>
            <p14:sldId id="285"/>
            <p14:sldId id="286"/>
            <p14:sldId id="287"/>
            <p14:sldId id="288"/>
            <p14:sldId id="289"/>
          </p14:sldIdLst>
        </p14:section>
        <p14:section name="Untitled Section" id="{15CA402F-0B30-44D7-A111-4F17956F4E4C}">
          <p14:sldIdLst>
            <p14:sldId id="260"/>
            <p14:sldId id="279"/>
            <p14:sldId id="272"/>
            <p14:sldId id="261"/>
            <p14:sldId id="273"/>
            <p14:sldId id="278"/>
            <p14:sldId id="270"/>
            <p14:sldId id="282"/>
            <p14:sldId id="268"/>
          </p14:sldIdLst>
        </p14:section>
      </p14:sectionLst>
    </p:ext>
    <p:ext uri="{EFAFB233-063F-42B5-8137-9DF3F51BA10A}">
      <p15:sldGuideLst xmlns:p15="http://schemas.microsoft.com/office/powerpoint/2012/main">
        <p15:guide id="1" orient="horz" pos="1620" userDrawn="1">
          <p15:clr>
            <a:srgbClr val="A4A3A4"/>
          </p15:clr>
        </p15:guide>
        <p15:guide id="2" pos="2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00" d="100"/>
          <a:sy n="100" d="100"/>
        </p:scale>
        <p:origin x="516" y="72"/>
      </p:cViewPr>
      <p:guideLst>
        <p:guide orient="horz" pos="1620"/>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font" Target="fonts/font12.fntdata"/><Relationship Id="rId45" Type="http://schemas.openxmlformats.org/officeDocument/2006/relationships/font" Target="fonts/font11.fntdata"/><Relationship Id="rId44" Type="http://schemas.openxmlformats.org/officeDocument/2006/relationships/font" Target="fonts/font10.fntdata"/><Relationship Id="rId43" Type="http://schemas.openxmlformats.org/officeDocument/2006/relationships/font" Target="fonts/font9.fntdata"/><Relationship Id="rId42" Type="http://schemas.openxmlformats.org/officeDocument/2006/relationships/font" Target="fonts/font8.fntdata"/><Relationship Id="rId41" Type="http://schemas.openxmlformats.org/officeDocument/2006/relationships/font" Target="fonts/font7.fntdata"/><Relationship Id="rId40" Type="http://schemas.openxmlformats.org/officeDocument/2006/relationships/font" Target="fonts/font6.fntdata"/><Relationship Id="rId4" Type="http://schemas.openxmlformats.org/officeDocument/2006/relationships/notesMaster" Target="notesMasters/notesMaster1.xml"/><Relationship Id="rId39" Type="http://schemas.openxmlformats.org/officeDocument/2006/relationships/font" Target="fonts/font5.fntdata"/><Relationship Id="rId38" Type="http://schemas.openxmlformats.org/officeDocument/2006/relationships/font" Target="fonts/font4.fntdata"/><Relationship Id="rId37" Type="http://schemas.openxmlformats.org/officeDocument/2006/relationships/font" Target="fonts/font3.fntdata"/><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
        <p:cNvGrpSpPr/>
        <p:nvPr/>
      </p:nvGrpSpPr>
      <p:grpSpPr>
        <a:xfrm>
          <a:off x="0" y="0"/>
          <a:ext cx="0" cy="0"/>
          <a:chOff x="0" y="0"/>
          <a:chExt cx="0" cy="0"/>
        </a:xfrm>
      </p:grpSpPr>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8" name="Google Shape;7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6" name="Google Shape;8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6" name="Google Shape;1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1"/>
        <p:cNvGrpSpPr/>
        <p:nvPr/>
      </p:nvGrpSpPr>
      <p:grpSpPr>
        <a:xfrm>
          <a:off x="0" y="0"/>
          <a:ext cx="0" cy="0"/>
          <a:chOff x="0" y="0"/>
          <a:chExt cx="0" cy="0"/>
        </a:xfrm>
      </p:grpSpPr>
      <p:sp>
        <p:nvSpPr>
          <p:cNvPr id="42" name="Google Shape;42;p15"/>
          <p:cNvSpPr>
            <a:spLocks noGrp="1"/>
          </p:cNvSpPr>
          <p:nvPr>
            <p:ph type="pic" idx="2"/>
          </p:nvPr>
        </p:nvSpPr>
        <p:spPr>
          <a:xfrm>
            <a:off x="3429000" y="971550"/>
            <a:ext cx="2362200" cy="32004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3" name="Google Shape;43;p15"/>
          <p:cNvSpPr txBox="1">
            <a:spLocks noGrp="1"/>
          </p:cNvSpPr>
          <p:nvPr>
            <p:ph type="body" idx="1"/>
          </p:nvPr>
        </p:nvSpPr>
        <p:spPr>
          <a:xfrm>
            <a:off x="381000" y="57150"/>
            <a:ext cx="4191000" cy="7620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Clr>
                <a:srgbClr val="000000"/>
              </a:buClr>
              <a:buSzPts val="1400"/>
              <a:buFont typeface="Arial" panose="020B0604020202020204"/>
              <a:buNone/>
              <a:defRPr/>
            </a:lvl1pPr>
            <a:lvl2pPr marL="914400" lvl="1" indent="-342900" algn="l">
              <a:spcBef>
                <a:spcPts val="0"/>
              </a:spcBef>
              <a:spcAft>
                <a:spcPts val="0"/>
              </a:spcAft>
              <a:buClr>
                <a:srgbClr val="000000"/>
              </a:buClr>
              <a:buSzPts val="1800"/>
              <a:buChar char="–"/>
              <a:defRPr/>
            </a:lvl2pPr>
            <a:lvl3pPr marL="1371600" lvl="2" indent="-342900" algn="l">
              <a:spcBef>
                <a:spcPts val="0"/>
              </a:spcBef>
              <a:spcAft>
                <a:spcPts val="0"/>
              </a:spcAft>
              <a:buClr>
                <a:srgbClr val="000000"/>
              </a:buClr>
              <a:buSzPts val="1800"/>
              <a:buChar char="•"/>
              <a:defRPr/>
            </a:lvl3pPr>
            <a:lvl4pPr marL="1828800" lvl="3" indent="-342900" algn="l">
              <a:spcBef>
                <a:spcPts val="0"/>
              </a:spcBef>
              <a:spcAft>
                <a:spcPts val="0"/>
              </a:spcAft>
              <a:buClr>
                <a:srgbClr val="000000"/>
              </a:buClr>
              <a:buSzPts val="1800"/>
              <a:buChar char="–"/>
              <a:defRPr/>
            </a:lvl4pPr>
            <a:lvl5pPr marL="2286000" lvl="4" indent="-342900" algn="l">
              <a:spcBef>
                <a:spcPts val="0"/>
              </a:spcBef>
              <a:spcAft>
                <a:spcPts val="0"/>
              </a:spcAft>
              <a:buClr>
                <a:srgbClr val="000000"/>
              </a:buClr>
              <a:buSzPts val="1800"/>
              <a:buChar char="»"/>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p:txBody>
      </p:sp>
      <p:sp>
        <p:nvSpPr>
          <p:cNvPr id="44" name="Google Shape;44;p15"/>
          <p:cNvSpPr txBox="1">
            <a:spLocks noGrp="1"/>
          </p:cNvSpPr>
          <p:nvPr>
            <p:ph type="body" idx="3"/>
          </p:nvPr>
        </p:nvSpPr>
        <p:spPr>
          <a:xfrm>
            <a:off x="4800600" y="57150"/>
            <a:ext cx="3276600" cy="7620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Clr>
                <a:srgbClr val="000000"/>
              </a:buClr>
              <a:buSzPts val="1400"/>
              <a:buFont typeface="Arial" panose="020B0604020202020204"/>
              <a:buNone/>
              <a:defRPr/>
            </a:lvl1pPr>
            <a:lvl2pPr marL="914400" lvl="1" indent="-342900" algn="l">
              <a:spcBef>
                <a:spcPts val="0"/>
              </a:spcBef>
              <a:spcAft>
                <a:spcPts val="0"/>
              </a:spcAft>
              <a:buClr>
                <a:srgbClr val="000000"/>
              </a:buClr>
              <a:buSzPts val="1800"/>
              <a:buChar char="–"/>
              <a:defRPr/>
            </a:lvl2pPr>
            <a:lvl3pPr marL="1371600" lvl="2" indent="-342900" algn="l">
              <a:spcBef>
                <a:spcPts val="0"/>
              </a:spcBef>
              <a:spcAft>
                <a:spcPts val="0"/>
              </a:spcAft>
              <a:buClr>
                <a:srgbClr val="000000"/>
              </a:buClr>
              <a:buSzPts val="1800"/>
              <a:buChar char="•"/>
              <a:defRPr/>
            </a:lvl3pPr>
            <a:lvl4pPr marL="1828800" lvl="3" indent="-342900" algn="l">
              <a:spcBef>
                <a:spcPts val="0"/>
              </a:spcBef>
              <a:spcAft>
                <a:spcPts val="0"/>
              </a:spcAft>
              <a:buClr>
                <a:srgbClr val="000000"/>
              </a:buClr>
              <a:buSzPts val="1800"/>
              <a:buChar char="–"/>
              <a:defRPr/>
            </a:lvl4pPr>
            <a:lvl5pPr marL="2286000" lvl="4" indent="-342900" algn="l">
              <a:spcBef>
                <a:spcPts val="0"/>
              </a:spcBef>
              <a:spcAft>
                <a:spcPts val="0"/>
              </a:spcAft>
              <a:buClr>
                <a:srgbClr val="000000"/>
              </a:buClr>
              <a:buSzPts val="1800"/>
              <a:buChar char="»"/>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p:txBody>
      </p:sp>
      <p:sp>
        <p:nvSpPr>
          <p:cNvPr id="45" name="Google Shape;45;p15"/>
          <p:cNvSpPr txBox="1">
            <a:spLocks noGrp="1"/>
          </p:cNvSpPr>
          <p:nvPr>
            <p:ph type="dt" idx="10"/>
          </p:nvPr>
        </p:nvSpPr>
        <p:spPr>
          <a:xfrm>
            <a:off x="7772400" y="4602163"/>
            <a:ext cx="766763" cy="276225"/>
          </a:xfrm>
          <a:prstGeom prst="rect">
            <a:avLst/>
          </a:prstGeom>
          <a:noFill/>
          <a:ln>
            <a:noFill/>
          </a:ln>
        </p:spPr>
        <p:txBody>
          <a:bodyPr spcFirstLastPara="1" wrap="square" lIns="91425" tIns="91425" rIns="914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5"/>
          <p:cNvSpPr txBox="1">
            <a:spLocks noGrp="1"/>
          </p:cNvSpPr>
          <p:nvPr>
            <p:ph type="ftr" idx="11"/>
          </p:nvPr>
        </p:nvSpPr>
        <p:spPr>
          <a:xfrm>
            <a:off x="1943100" y="4602163"/>
            <a:ext cx="5716588" cy="273050"/>
          </a:xfrm>
          <a:prstGeom prst="rect">
            <a:avLst/>
          </a:prstGeom>
          <a:noFill/>
          <a:ln>
            <a:noFill/>
          </a:ln>
        </p:spPr>
        <p:txBody>
          <a:bodyPr spcFirstLastPara="1" wrap="square" lIns="91425" tIns="91425" rIns="914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spcAft>
                <a:spcPts val="0"/>
              </a:spcAft>
              <a:buNone/>
              <a:def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r>
              <a:rPr lang="en-US"/>
              <a:t>1</a:t>
            </a:r>
            <a:endParaRPr sz="1400" b="0" i="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6"/>
          <p:cNvSpPr txBox="1">
            <a:spLocks noGrp="1"/>
          </p:cNvSpPr>
          <p:nvPr>
            <p:ph type="dt" idx="10"/>
          </p:nvPr>
        </p:nvSpPr>
        <p:spPr>
          <a:xfrm>
            <a:off x="7772400" y="4602163"/>
            <a:ext cx="766763" cy="276225"/>
          </a:xfrm>
          <a:prstGeom prst="rect">
            <a:avLst/>
          </a:prstGeom>
          <a:noFill/>
          <a:ln>
            <a:noFill/>
          </a:ln>
        </p:spPr>
        <p:txBody>
          <a:bodyPr spcFirstLastPara="1" wrap="square" lIns="91425" tIns="91425" rIns="91425" bIns="91425"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6"/>
          <p:cNvSpPr txBox="1">
            <a:spLocks noGrp="1"/>
          </p:cNvSpPr>
          <p:nvPr>
            <p:ph type="ftr" idx="11"/>
          </p:nvPr>
        </p:nvSpPr>
        <p:spPr>
          <a:xfrm>
            <a:off x="1943100" y="4602163"/>
            <a:ext cx="5716588" cy="273050"/>
          </a:xfrm>
          <a:prstGeom prst="rect">
            <a:avLst/>
          </a:prstGeom>
          <a:noFill/>
          <a:ln>
            <a:noFill/>
          </a:ln>
        </p:spPr>
        <p:txBody>
          <a:bodyPr spcFirstLastPara="1" wrap="square" lIns="91425" tIns="91425" rIns="91425" bIns="914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5DEE5"/>
            </a:gs>
          </a:gsLst>
          <a:lin ang="5400000" scaled="0"/>
        </a:gradFill>
        <a:effectLst/>
      </p:bgPr>
    </p:bg>
    <p:spTree>
      <p:nvGrpSpPr>
        <p:cNvPr id="1" name="Shape 5"/>
        <p:cNvGrpSpPr/>
        <p:nvPr/>
      </p:nvGrpSpPr>
      <p:grpSpPr>
        <a:xfrm>
          <a:off x="0" y="0"/>
          <a:ext cx="0" cy="0"/>
          <a:chOff x="0" y="0"/>
          <a:chExt cx="0" cy="0"/>
        </a:xfrm>
      </p:grpSpPr>
      <p:grpSp>
        <p:nvGrpSpPr>
          <p:cNvPr id="6" name="Google Shape;6;p14"/>
          <p:cNvGrpSpPr/>
          <p:nvPr/>
        </p:nvGrpSpPr>
        <p:grpSpPr>
          <a:xfrm>
            <a:off x="0" y="171450"/>
            <a:ext cx="1981200" cy="4978400"/>
            <a:chOff x="2487613" y="285750"/>
            <a:chExt cx="2428874" cy="5654676"/>
          </a:xfrm>
        </p:grpSpPr>
        <p:sp>
          <p:nvSpPr>
            <p:cNvPr id="7" name="Google Shape;7;p14"/>
            <p:cNvSpPr/>
            <p:nvPr/>
          </p:nvSpPr>
          <p:spPr>
            <a:xfrm>
              <a:off x="2487613" y="2283639"/>
              <a:ext cx="85633" cy="535536"/>
            </a:xfrm>
            <a:custGeom>
              <a:avLst/>
              <a:gdLst/>
              <a:ahLst/>
              <a:cxnLst/>
              <a:rect l="l" t="t" r="r" b="b"/>
              <a:pathLst>
                <a:path w="120000" h="120000" extrusionOk="0">
                  <a:moveTo>
                    <a:pt x="120000" y="120000"/>
                  </a:moveTo>
                  <a:cubicBezTo>
                    <a:pt x="109090" y="103235"/>
                    <a:pt x="103636" y="87352"/>
                    <a:pt x="92727" y="70588"/>
                  </a:cubicBezTo>
                  <a:cubicBezTo>
                    <a:pt x="60000" y="47647"/>
                    <a:pt x="32727" y="23823"/>
                    <a:pt x="0" y="0"/>
                  </a:cubicBezTo>
                  <a:cubicBezTo>
                    <a:pt x="0" y="30882"/>
                    <a:pt x="0" y="30882"/>
                    <a:pt x="0" y="30882"/>
                  </a:cubicBezTo>
                  <a:cubicBezTo>
                    <a:pt x="32727" y="56470"/>
                    <a:pt x="70909" y="82941"/>
                    <a:pt x="109090" y="109411"/>
                  </a:cubicBezTo>
                  <a:cubicBezTo>
                    <a:pt x="109090" y="112941"/>
                    <a:pt x="114545" y="116470"/>
                    <a:pt x="120000" y="12000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Google Shape;8;p14"/>
            <p:cNvSpPr/>
            <p:nvPr/>
          </p:nvSpPr>
          <p:spPr>
            <a:xfrm>
              <a:off x="2596601" y="2779506"/>
              <a:ext cx="550779" cy="1978054"/>
            </a:xfrm>
            <a:custGeom>
              <a:avLst/>
              <a:gdLst/>
              <a:ahLst/>
              <a:cxnLst/>
              <a:rect l="l" t="t" r="r" b="b"/>
              <a:pathLst>
                <a:path w="120000" h="120000" extrusionOk="0">
                  <a:moveTo>
                    <a:pt x="73714" y="83333"/>
                  </a:moveTo>
                  <a:cubicBezTo>
                    <a:pt x="88285" y="95714"/>
                    <a:pt x="102857" y="107857"/>
                    <a:pt x="119142" y="120000"/>
                  </a:cubicBezTo>
                  <a:cubicBezTo>
                    <a:pt x="119142" y="117857"/>
                    <a:pt x="119142" y="115952"/>
                    <a:pt x="120000" y="113809"/>
                  </a:cubicBezTo>
                  <a:cubicBezTo>
                    <a:pt x="106285" y="103571"/>
                    <a:pt x="93428" y="93095"/>
                    <a:pt x="81428" y="82619"/>
                  </a:cubicBezTo>
                  <a:cubicBezTo>
                    <a:pt x="49714" y="55476"/>
                    <a:pt x="23142" y="27857"/>
                    <a:pt x="0" y="0"/>
                  </a:cubicBezTo>
                  <a:cubicBezTo>
                    <a:pt x="1714" y="4761"/>
                    <a:pt x="3428" y="9761"/>
                    <a:pt x="5142" y="14523"/>
                  </a:cubicBezTo>
                  <a:cubicBezTo>
                    <a:pt x="25714" y="37619"/>
                    <a:pt x="48000" y="60714"/>
                    <a:pt x="73714" y="83333"/>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Google Shape;9;p14"/>
            <p:cNvSpPr/>
            <p:nvPr/>
          </p:nvSpPr>
          <p:spPr>
            <a:xfrm>
              <a:off x="3174627" y="4730513"/>
              <a:ext cx="519638" cy="1209913"/>
            </a:xfrm>
            <a:custGeom>
              <a:avLst/>
              <a:gdLst/>
              <a:ahLst/>
              <a:cxnLst/>
              <a:rect l="l" t="t" r="r" b="b"/>
              <a:pathLst>
                <a:path w="120000" h="120000" extrusionOk="0">
                  <a:moveTo>
                    <a:pt x="7272" y="8571"/>
                  </a:moveTo>
                  <a:cubicBezTo>
                    <a:pt x="4545" y="5844"/>
                    <a:pt x="1818" y="3116"/>
                    <a:pt x="0" y="0"/>
                  </a:cubicBezTo>
                  <a:cubicBezTo>
                    <a:pt x="0" y="3896"/>
                    <a:pt x="0" y="7402"/>
                    <a:pt x="0" y="11298"/>
                  </a:cubicBezTo>
                  <a:cubicBezTo>
                    <a:pt x="19090" y="33116"/>
                    <a:pt x="40000" y="54545"/>
                    <a:pt x="61818" y="75584"/>
                  </a:cubicBezTo>
                  <a:cubicBezTo>
                    <a:pt x="77272" y="90389"/>
                    <a:pt x="94545" y="105194"/>
                    <a:pt x="111818" y="120000"/>
                  </a:cubicBezTo>
                  <a:cubicBezTo>
                    <a:pt x="120000" y="120000"/>
                    <a:pt x="120000" y="120000"/>
                    <a:pt x="120000" y="120000"/>
                  </a:cubicBezTo>
                  <a:cubicBezTo>
                    <a:pt x="102727" y="104805"/>
                    <a:pt x="85454" y="89610"/>
                    <a:pt x="70000" y="74025"/>
                  </a:cubicBezTo>
                  <a:cubicBezTo>
                    <a:pt x="47272" y="52597"/>
                    <a:pt x="26363" y="30779"/>
                    <a:pt x="7272" y="8571"/>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0;p14"/>
            <p:cNvSpPr/>
            <p:nvPr/>
          </p:nvSpPr>
          <p:spPr>
            <a:xfrm>
              <a:off x="3305023" y="5630284"/>
              <a:ext cx="145967" cy="310142"/>
            </a:xfrm>
            <a:custGeom>
              <a:avLst/>
              <a:gdLst/>
              <a:ahLst/>
              <a:cxnLst/>
              <a:rect l="l" t="t" r="r" b="b"/>
              <a:pathLst>
                <a:path w="120000" h="120000" extrusionOk="0">
                  <a:moveTo>
                    <a:pt x="90810" y="120000"/>
                  </a:moveTo>
                  <a:cubicBezTo>
                    <a:pt x="120000" y="120000"/>
                    <a:pt x="120000" y="120000"/>
                    <a:pt x="120000" y="120000"/>
                  </a:cubicBezTo>
                  <a:cubicBezTo>
                    <a:pt x="77837" y="80506"/>
                    <a:pt x="38918" y="41012"/>
                    <a:pt x="0" y="0"/>
                  </a:cubicBezTo>
                  <a:cubicBezTo>
                    <a:pt x="25945" y="41012"/>
                    <a:pt x="55135" y="80506"/>
                    <a:pt x="90810" y="12000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14"/>
            <p:cNvSpPr/>
            <p:nvPr/>
          </p:nvSpPr>
          <p:spPr>
            <a:xfrm>
              <a:off x="2573246" y="2819175"/>
              <a:ext cx="700637" cy="2832747"/>
            </a:xfrm>
            <a:custGeom>
              <a:avLst/>
              <a:gdLst/>
              <a:ahLst/>
              <a:cxnLst/>
              <a:rect l="l" t="t" r="r" b="b"/>
              <a:pathLst>
                <a:path w="120000" h="120000" extrusionOk="0">
                  <a:moveTo>
                    <a:pt x="109213" y="109695"/>
                  </a:moveTo>
                  <a:cubicBezTo>
                    <a:pt x="97752" y="102714"/>
                    <a:pt x="87640" y="95734"/>
                    <a:pt x="78202" y="88753"/>
                  </a:cubicBezTo>
                  <a:cubicBezTo>
                    <a:pt x="56629" y="72631"/>
                    <a:pt x="39775" y="56011"/>
                    <a:pt x="26966" y="39224"/>
                  </a:cubicBezTo>
                  <a:cubicBezTo>
                    <a:pt x="19550" y="29085"/>
                    <a:pt x="13483" y="18781"/>
                    <a:pt x="8089" y="8476"/>
                  </a:cubicBezTo>
                  <a:cubicBezTo>
                    <a:pt x="5393" y="5650"/>
                    <a:pt x="2696" y="2825"/>
                    <a:pt x="0" y="0"/>
                  </a:cubicBezTo>
                  <a:cubicBezTo>
                    <a:pt x="5393" y="13130"/>
                    <a:pt x="12808" y="26426"/>
                    <a:pt x="22247" y="39390"/>
                  </a:cubicBezTo>
                  <a:cubicBezTo>
                    <a:pt x="34382" y="56343"/>
                    <a:pt x="51235" y="72963"/>
                    <a:pt x="72134" y="89252"/>
                  </a:cubicBezTo>
                  <a:cubicBezTo>
                    <a:pt x="82921" y="97396"/>
                    <a:pt x="95056" y="105373"/>
                    <a:pt x="107865" y="113185"/>
                  </a:cubicBezTo>
                  <a:cubicBezTo>
                    <a:pt x="111910" y="115512"/>
                    <a:pt x="115955" y="117673"/>
                    <a:pt x="120000" y="120000"/>
                  </a:cubicBezTo>
                  <a:cubicBezTo>
                    <a:pt x="118651" y="119168"/>
                    <a:pt x="117977" y="118504"/>
                    <a:pt x="117303" y="117673"/>
                  </a:cubicBezTo>
                  <a:cubicBezTo>
                    <a:pt x="113932" y="115013"/>
                    <a:pt x="111235" y="112354"/>
                    <a:pt x="109213" y="109695"/>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Google Shape;12;p14"/>
            <p:cNvSpPr/>
            <p:nvPr/>
          </p:nvSpPr>
          <p:spPr>
            <a:xfrm>
              <a:off x="2507075" y="285750"/>
              <a:ext cx="89526" cy="2493756"/>
            </a:xfrm>
            <a:custGeom>
              <a:avLst/>
              <a:gdLst/>
              <a:ahLst/>
              <a:cxnLst/>
              <a:rect l="l" t="t" r="r" b="b"/>
              <a:pathLst>
                <a:path w="120000" h="120000" extrusionOk="0">
                  <a:moveTo>
                    <a:pt x="57391" y="109039"/>
                  </a:moveTo>
                  <a:cubicBezTo>
                    <a:pt x="62608" y="109795"/>
                    <a:pt x="62608" y="110551"/>
                    <a:pt x="62608" y="111307"/>
                  </a:cubicBezTo>
                  <a:cubicBezTo>
                    <a:pt x="78260" y="113952"/>
                    <a:pt x="99130" y="116598"/>
                    <a:pt x="114782" y="119433"/>
                  </a:cubicBezTo>
                  <a:cubicBezTo>
                    <a:pt x="114782" y="119622"/>
                    <a:pt x="114782" y="119811"/>
                    <a:pt x="120000" y="120000"/>
                  </a:cubicBezTo>
                  <a:cubicBezTo>
                    <a:pt x="109565" y="116220"/>
                    <a:pt x="99130" y="112629"/>
                    <a:pt x="88695" y="108850"/>
                  </a:cubicBezTo>
                  <a:cubicBezTo>
                    <a:pt x="46956" y="89574"/>
                    <a:pt x="26086" y="70299"/>
                    <a:pt x="26086" y="50834"/>
                  </a:cubicBezTo>
                  <a:cubicBezTo>
                    <a:pt x="31304" y="33826"/>
                    <a:pt x="46956" y="17007"/>
                    <a:pt x="78260" y="0"/>
                  </a:cubicBezTo>
                  <a:cubicBezTo>
                    <a:pt x="62608" y="0"/>
                    <a:pt x="62608" y="0"/>
                    <a:pt x="62608" y="0"/>
                  </a:cubicBezTo>
                  <a:cubicBezTo>
                    <a:pt x="26086" y="16818"/>
                    <a:pt x="10434" y="33826"/>
                    <a:pt x="5217" y="50834"/>
                  </a:cubicBezTo>
                  <a:cubicBezTo>
                    <a:pt x="0" y="70299"/>
                    <a:pt x="15652" y="89574"/>
                    <a:pt x="57391" y="109039"/>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Google Shape;13;p14"/>
            <p:cNvSpPr/>
            <p:nvPr/>
          </p:nvSpPr>
          <p:spPr>
            <a:xfrm>
              <a:off x="2553784" y="2599191"/>
              <a:ext cx="68118" cy="420133"/>
            </a:xfrm>
            <a:custGeom>
              <a:avLst/>
              <a:gdLst/>
              <a:ahLst/>
              <a:cxnLst/>
              <a:rect l="l" t="t" r="r" b="b"/>
              <a:pathLst>
                <a:path w="120000" h="120000" extrusionOk="0">
                  <a:moveTo>
                    <a:pt x="0" y="0"/>
                  </a:moveTo>
                  <a:cubicBezTo>
                    <a:pt x="14117" y="21308"/>
                    <a:pt x="21176" y="41495"/>
                    <a:pt x="35294" y="62803"/>
                  </a:cubicBezTo>
                  <a:cubicBezTo>
                    <a:pt x="63529" y="81869"/>
                    <a:pt x="91764" y="100934"/>
                    <a:pt x="120000" y="120000"/>
                  </a:cubicBezTo>
                  <a:cubicBezTo>
                    <a:pt x="105882" y="97570"/>
                    <a:pt x="91764" y="74018"/>
                    <a:pt x="77647" y="51588"/>
                  </a:cubicBezTo>
                  <a:cubicBezTo>
                    <a:pt x="70588" y="50467"/>
                    <a:pt x="70588" y="49345"/>
                    <a:pt x="70588" y="48224"/>
                  </a:cubicBezTo>
                  <a:cubicBezTo>
                    <a:pt x="49411" y="31401"/>
                    <a:pt x="21176" y="15700"/>
                    <a:pt x="0" y="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Google Shape;14;p14"/>
            <p:cNvSpPr/>
            <p:nvPr/>
          </p:nvSpPr>
          <p:spPr>
            <a:xfrm>
              <a:off x="3143487" y="4757560"/>
              <a:ext cx="161535" cy="872724"/>
            </a:xfrm>
            <a:custGeom>
              <a:avLst/>
              <a:gdLst/>
              <a:ahLst/>
              <a:cxnLst/>
              <a:rect l="l" t="t" r="r" b="b"/>
              <a:pathLst>
                <a:path w="120000" h="120000" extrusionOk="0">
                  <a:moveTo>
                    <a:pt x="0" y="0"/>
                  </a:moveTo>
                  <a:cubicBezTo>
                    <a:pt x="0" y="16756"/>
                    <a:pt x="5853" y="33513"/>
                    <a:pt x="14634" y="50270"/>
                  </a:cubicBezTo>
                  <a:cubicBezTo>
                    <a:pt x="23414" y="63243"/>
                    <a:pt x="35121" y="76756"/>
                    <a:pt x="49756" y="89729"/>
                  </a:cubicBezTo>
                  <a:cubicBezTo>
                    <a:pt x="55609" y="92972"/>
                    <a:pt x="64390" y="96216"/>
                    <a:pt x="70243" y="99459"/>
                  </a:cubicBezTo>
                  <a:cubicBezTo>
                    <a:pt x="87804" y="106486"/>
                    <a:pt x="102439" y="112972"/>
                    <a:pt x="120000" y="120000"/>
                  </a:cubicBezTo>
                  <a:cubicBezTo>
                    <a:pt x="117073" y="118378"/>
                    <a:pt x="114146" y="116216"/>
                    <a:pt x="111219" y="114594"/>
                  </a:cubicBezTo>
                  <a:cubicBezTo>
                    <a:pt x="76097" y="92972"/>
                    <a:pt x="52682" y="71351"/>
                    <a:pt x="38048" y="49729"/>
                  </a:cubicBezTo>
                  <a:cubicBezTo>
                    <a:pt x="32195" y="36756"/>
                    <a:pt x="26341" y="24324"/>
                    <a:pt x="23414" y="11891"/>
                  </a:cubicBezTo>
                  <a:cubicBezTo>
                    <a:pt x="23414" y="11351"/>
                    <a:pt x="20487" y="10810"/>
                    <a:pt x="20487" y="9729"/>
                  </a:cubicBezTo>
                  <a:cubicBezTo>
                    <a:pt x="14634" y="6486"/>
                    <a:pt x="5853" y="3243"/>
                    <a:pt x="0" y="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14"/>
            <p:cNvSpPr/>
            <p:nvPr/>
          </p:nvSpPr>
          <p:spPr>
            <a:xfrm>
              <a:off x="3147380" y="1282892"/>
              <a:ext cx="1769107" cy="3447621"/>
            </a:xfrm>
            <a:custGeom>
              <a:avLst/>
              <a:gdLst/>
              <a:ahLst/>
              <a:cxnLst/>
              <a:rect l="l" t="t" r="r" b="b"/>
              <a:pathLst>
                <a:path w="120000" h="120000" extrusionOk="0">
                  <a:moveTo>
                    <a:pt x="1866" y="116719"/>
                  </a:moveTo>
                  <a:cubicBezTo>
                    <a:pt x="2666" y="105512"/>
                    <a:pt x="6933" y="94441"/>
                    <a:pt x="13333" y="83781"/>
                  </a:cubicBezTo>
                  <a:cubicBezTo>
                    <a:pt x="20000" y="73120"/>
                    <a:pt x="29066" y="62870"/>
                    <a:pt x="39733" y="53029"/>
                  </a:cubicBezTo>
                  <a:cubicBezTo>
                    <a:pt x="50400" y="43189"/>
                    <a:pt x="62666" y="33895"/>
                    <a:pt x="76000" y="25011"/>
                  </a:cubicBezTo>
                  <a:cubicBezTo>
                    <a:pt x="82666" y="20637"/>
                    <a:pt x="89866" y="16264"/>
                    <a:pt x="97066" y="12164"/>
                  </a:cubicBezTo>
                  <a:cubicBezTo>
                    <a:pt x="100800" y="10113"/>
                    <a:pt x="104533" y="7927"/>
                    <a:pt x="108266" y="6013"/>
                  </a:cubicBezTo>
                  <a:cubicBezTo>
                    <a:pt x="112266" y="3963"/>
                    <a:pt x="116000" y="2050"/>
                    <a:pt x="120000" y="136"/>
                  </a:cubicBezTo>
                  <a:cubicBezTo>
                    <a:pt x="120000" y="0"/>
                    <a:pt x="120000" y="0"/>
                    <a:pt x="120000" y="0"/>
                  </a:cubicBezTo>
                  <a:cubicBezTo>
                    <a:pt x="115733" y="1913"/>
                    <a:pt x="112000" y="3826"/>
                    <a:pt x="108000" y="5876"/>
                  </a:cubicBezTo>
                  <a:cubicBezTo>
                    <a:pt x="104266" y="7790"/>
                    <a:pt x="100533" y="9840"/>
                    <a:pt x="96800" y="12027"/>
                  </a:cubicBezTo>
                  <a:cubicBezTo>
                    <a:pt x="89333" y="16127"/>
                    <a:pt x="82133" y="20364"/>
                    <a:pt x="75466" y="24738"/>
                  </a:cubicBezTo>
                  <a:cubicBezTo>
                    <a:pt x="61866" y="33621"/>
                    <a:pt x="49333" y="42915"/>
                    <a:pt x="38666" y="52756"/>
                  </a:cubicBezTo>
                  <a:cubicBezTo>
                    <a:pt x="27733" y="62460"/>
                    <a:pt x="18666" y="72847"/>
                    <a:pt x="12000" y="83507"/>
                  </a:cubicBezTo>
                  <a:cubicBezTo>
                    <a:pt x="5066" y="94305"/>
                    <a:pt x="800" y="105375"/>
                    <a:pt x="0" y="116719"/>
                  </a:cubicBezTo>
                  <a:cubicBezTo>
                    <a:pt x="0" y="116993"/>
                    <a:pt x="0" y="117129"/>
                    <a:pt x="0" y="117403"/>
                  </a:cubicBezTo>
                  <a:cubicBezTo>
                    <a:pt x="533" y="118223"/>
                    <a:pt x="1066" y="119179"/>
                    <a:pt x="1866" y="120000"/>
                  </a:cubicBezTo>
                  <a:cubicBezTo>
                    <a:pt x="1866" y="118906"/>
                    <a:pt x="1866" y="117813"/>
                    <a:pt x="1866" y="116719"/>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16;p14"/>
            <p:cNvSpPr/>
            <p:nvPr/>
          </p:nvSpPr>
          <p:spPr>
            <a:xfrm>
              <a:off x="3273883" y="5651922"/>
              <a:ext cx="138182" cy="288504"/>
            </a:xfrm>
            <a:custGeom>
              <a:avLst/>
              <a:gdLst/>
              <a:ahLst/>
              <a:cxnLst/>
              <a:rect l="l" t="t" r="r" b="b"/>
              <a:pathLst>
                <a:path w="120000" h="120000" extrusionOk="0">
                  <a:moveTo>
                    <a:pt x="0" y="0"/>
                  </a:moveTo>
                  <a:cubicBezTo>
                    <a:pt x="24000" y="39452"/>
                    <a:pt x="54857" y="80547"/>
                    <a:pt x="89142" y="119999"/>
                  </a:cubicBezTo>
                  <a:cubicBezTo>
                    <a:pt x="120000" y="119999"/>
                    <a:pt x="120000" y="119999"/>
                    <a:pt x="120000" y="119999"/>
                  </a:cubicBezTo>
                  <a:cubicBezTo>
                    <a:pt x="78857" y="80547"/>
                    <a:pt x="37714" y="39452"/>
                    <a:pt x="0" y="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Google Shape;17;p14"/>
            <p:cNvSpPr/>
            <p:nvPr/>
          </p:nvSpPr>
          <p:spPr>
            <a:xfrm>
              <a:off x="3143487" y="4656584"/>
              <a:ext cx="31139" cy="189331"/>
            </a:xfrm>
            <a:custGeom>
              <a:avLst/>
              <a:gdLst/>
              <a:ahLst/>
              <a:cxnLst/>
              <a:rect l="l" t="t" r="r" b="b"/>
              <a:pathLst>
                <a:path w="120000" h="120000" extrusionOk="0">
                  <a:moveTo>
                    <a:pt x="105000" y="110000"/>
                  </a:moveTo>
                  <a:cubicBezTo>
                    <a:pt x="105000" y="115000"/>
                    <a:pt x="120000" y="117500"/>
                    <a:pt x="120000" y="120000"/>
                  </a:cubicBezTo>
                  <a:cubicBezTo>
                    <a:pt x="120000" y="95000"/>
                    <a:pt x="120000" y="72500"/>
                    <a:pt x="120000" y="47500"/>
                  </a:cubicBezTo>
                  <a:cubicBezTo>
                    <a:pt x="75000" y="32500"/>
                    <a:pt x="45000" y="15000"/>
                    <a:pt x="15000" y="0"/>
                  </a:cubicBezTo>
                  <a:cubicBezTo>
                    <a:pt x="0" y="22500"/>
                    <a:pt x="0" y="42500"/>
                    <a:pt x="0" y="65000"/>
                  </a:cubicBezTo>
                  <a:cubicBezTo>
                    <a:pt x="30000" y="80000"/>
                    <a:pt x="75000" y="95000"/>
                    <a:pt x="105000" y="11000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Google Shape;18;p14"/>
            <p:cNvSpPr/>
            <p:nvPr/>
          </p:nvSpPr>
          <p:spPr>
            <a:xfrm>
              <a:off x="3211604" y="5410300"/>
              <a:ext cx="202406" cy="530126"/>
            </a:xfrm>
            <a:custGeom>
              <a:avLst/>
              <a:gdLst/>
              <a:ahLst/>
              <a:cxnLst/>
              <a:rect l="l" t="t" r="r" b="b"/>
              <a:pathLst>
                <a:path w="120000" h="120000" extrusionOk="0">
                  <a:moveTo>
                    <a:pt x="16153" y="16000"/>
                  </a:moveTo>
                  <a:cubicBezTo>
                    <a:pt x="11538" y="10666"/>
                    <a:pt x="4615" y="5333"/>
                    <a:pt x="0" y="0"/>
                  </a:cubicBezTo>
                  <a:cubicBezTo>
                    <a:pt x="6923" y="14222"/>
                    <a:pt x="16153" y="28444"/>
                    <a:pt x="27692" y="42666"/>
                  </a:cubicBezTo>
                  <a:cubicBezTo>
                    <a:pt x="30000" y="47111"/>
                    <a:pt x="32307" y="50666"/>
                    <a:pt x="36923" y="55111"/>
                  </a:cubicBezTo>
                  <a:cubicBezTo>
                    <a:pt x="62307" y="76444"/>
                    <a:pt x="90000" y="98666"/>
                    <a:pt x="117692" y="120000"/>
                  </a:cubicBezTo>
                  <a:cubicBezTo>
                    <a:pt x="120000" y="120000"/>
                    <a:pt x="120000" y="120000"/>
                    <a:pt x="120000" y="120000"/>
                  </a:cubicBezTo>
                  <a:cubicBezTo>
                    <a:pt x="94615" y="96888"/>
                    <a:pt x="73846" y="73777"/>
                    <a:pt x="55384" y="49777"/>
                  </a:cubicBezTo>
                  <a:cubicBezTo>
                    <a:pt x="41538" y="38222"/>
                    <a:pt x="30000" y="27555"/>
                    <a:pt x="16153" y="16000"/>
                  </a:cubicBezTo>
                </a:path>
              </a:pathLst>
            </a:custGeom>
            <a:solidFill>
              <a:srgbClr val="2E5369">
                <a:alpha val="2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 name="Google Shape;19;p14"/>
          <p:cNvGrpSpPr/>
          <p:nvPr/>
        </p:nvGrpSpPr>
        <p:grpSpPr>
          <a:xfrm>
            <a:off x="20638" y="0"/>
            <a:ext cx="1952625" cy="5140325"/>
            <a:chOff x="6627813" y="196102"/>
            <a:chExt cx="1952625" cy="5677649"/>
          </a:xfrm>
        </p:grpSpPr>
        <p:sp>
          <p:nvSpPr>
            <p:cNvPr id="20" name="Google Shape;20;p14"/>
            <p:cNvSpPr/>
            <p:nvPr/>
          </p:nvSpPr>
          <p:spPr>
            <a:xfrm>
              <a:off x="6627813" y="196102"/>
              <a:ext cx="409575" cy="3647162"/>
            </a:xfrm>
            <a:custGeom>
              <a:avLst/>
              <a:gdLst/>
              <a:ahLst/>
              <a:cxnLst/>
              <a:rect l="l" t="t" r="r" b="b"/>
              <a:pathLst>
                <a:path w="120000" h="120000" extrusionOk="0">
                  <a:moveTo>
                    <a:pt x="8155" y="27391"/>
                  </a:moveTo>
                  <a:cubicBezTo>
                    <a:pt x="12815" y="37565"/>
                    <a:pt x="19805" y="47869"/>
                    <a:pt x="30291" y="58043"/>
                  </a:cubicBezTo>
                  <a:cubicBezTo>
                    <a:pt x="39611" y="68217"/>
                    <a:pt x="51262" y="78391"/>
                    <a:pt x="66407" y="88565"/>
                  </a:cubicBezTo>
                  <a:cubicBezTo>
                    <a:pt x="80388" y="98739"/>
                    <a:pt x="97864" y="108782"/>
                    <a:pt x="117669" y="118826"/>
                  </a:cubicBezTo>
                  <a:cubicBezTo>
                    <a:pt x="118834" y="119217"/>
                    <a:pt x="120000" y="119608"/>
                    <a:pt x="120000" y="120000"/>
                  </a:cubicBezTo>
                  <a:cubicBezTo>
                    <a:pt x="118834" y="118043"/>
                    <a:pt x="116504" y="115956"/>
                    <a:pt x="115339" y="114000"/>
                  </a:cubicBezTo>
                  <a:cubicBezTo>
                    <a:pt x="115339" y="113608"/>
                    <a:pt x="115339" y="113217"/>
                    <a:pt x="115339" y="112956"/>
                  </a:cubicBezTo>
                  <a:cubicBezTo>
                    <a:pt x="99029" y="104739"/>
                    <a:pt x="85048" y="96652"/>
                    <a:pt x="73398" y="88434"/>
                  </a:cubicBezTo>
                  <a:cubicBezTo>
                    <a:pt x="58252" y="78260"/>
                    <a:pt x="45436" y="68217"/>
                    <a:pt x="34951" y="57913"/>
                  </a:cubicBezTo>
                  <a:cubicBezTo>
                    <a:pt x="24466" y="47739"/>
                    <a:pt x="16310" y="37565"/>
                    <a:pt x="10485" y="27260"/>
                  </a:cubicBezTo>
                  <a:cubicBezTo>
                    <a:pt x="8155" y="22173"/>
                    <a:pt x="5825" y="17086"/>
                    <a:pt x="3495" y="12000"/>
                  </a:cubicBezTo>
                  <a:cubicBezTo>
                    <a:pt x="2330" y="7956"/>
                    <a:pt x="1165" y="4043"/>
                    <a:pt x="1165" y="0"/>
                  </a:cubicBezTo>
                  <a:cubicBezTo>
                    <a:pt x="0" y="0"/>
                    <a:pt x="0" y="0"/>
                    <a:pt x="0" y="0"/>
                  </a:cubicBezTo>
                  <a:cubicBezTo>
                    <a:pt x="0" y="4043"/>
                    <a:pt x="1165" y="7956"/>
                    <a:pt x="1165" y="12000"/>
                  </a:cubicBezTo>
                  <a:cubicBezTo>
                    <a:pt x="3495" y="17086"/>
                    <a:pt x="4660" y="22173"/>
                    <a:pt x="8155" y="27391"/>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21;p14"/>
            <p:cNvSpPr/>
            <p:nvPr/>
          </p:nvSpPr>
          <p:spPr>
            <a:xfrm>
              <a:off x="7061200" y="3771373"/>
              <a:ext cx="350838" cy="1309821"/>
            </a:xfrm>
            <a:custGeom>
              <a:avLst/>
              <a:gdLst/>
              <a:ahLst/>
              <a:cxnLst/>
              <a:rect l="l" t="t" r="r" b="b"/>
              <a:pathLst>
                <a:path w="120000" h="120000" extrusionOk="0">
                  <a:moveTo>
                    <a:pt x="72272" y="83272"/>
                  </a:moveTo>
                  <a:cubicBezTo>
                    <a:pt x="87272" y="95636"/>
                    <a:pt x="102272" y="108000"/>
                    <a:pt x="120000" y="120000"/>
                  </a:cubicBezTo>
                  <a:cubicBezTo>
                    <a:pt x="120000" y="117454"/>
                    <a:pt x="120000" y="114545"/>
                    <a:pt x="120000" y="112000"/>
                  </a:cubicBezTo>
                  <a:cubicBezTo>
                    <a:pt x="120000" y="111636"/>
                    <a:pt x="120000" y="110909"/>
                    <a:pt x="120000" y="110545"/>
                  </a:cubicBezTo>
                  <a:cubicBezTo>
                    <a:pt x="107727" y="101090"/>
                    <a:pt x="95454" y="91636"/>
                    <a:pt x="84545" y="82181"/>
                  </a:cubicBezTo>
                  <a:cubicBezTo>
                    <a:pt x="51818" y="55272"/>
                    <a:pt x="23181" y="27636"/>
                    <a:pt x="0" y="0"/>
                  </a:cubicBezTo>
                  <a:cubicBezTo>
                    <a:pt x="2727" y="7636"/>
                    <a:pt x="5454" y="15272"/>
                    <a:pt x="9545" y="22909"/>
                  </a:cubicBezTo>
                  <a:cubicBezTo>
                    <a:pt x="28636" y="43272"/>
                    <a:pt x="49090" y="63272"/>
                    <a:pt x="72272" y="83272"/>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14"/>
            <p:cNvSpPr/>
            <p:nvPr/>
          </p:nvSpPr>
          <p:spPr>
            <a:xfrm>
              <a:off x="7439025" y="5053140"/>
              <a:ext cx="357188" cy="820611"/>
            </a:xfrm>
            <a:custGeom>
              <a:avLst/>
              <a:gdLst/>
              <a:ahLst/>
              <a:cxnLst/>
              <a:rect l="l" t="t" r="r" b="b"/>
              <a:pathLst>
                <a:path w="120000" h="120000" extrusionOk="0">
                  <a:moveTo>
                    <a:pt x="8000" y="8695"/>
                  </a:moveTo>
                  <a:cubicBezTo>
                    <a:pt x="5333" y="5797"/>
                    <a:pt x="2666" y="2898"/>
                    <a:pt x="0" y="0"/>
                  </a:cubicBezTo>
                  <a:cubicBezTo>
                    <a:pt x="0" y="5217"/>
                    <a:pt x="0" y="11014"/>
                    <a:pt x="1333" y="16811"/>
                  </a:cubicBezTo>
                  <a:cubicBezTo>
                    <a:pt x="18666" y="35942"/>
                    <a:pt x="36000" y="55072"/>
                    <a:pt x="56000" y="73623"/>
                  </a:cubicBezTo>
                  <a:cubicBezTo>
                    <a:pt x="72000" y="89275"/>
                    <a:pt x="89333" y="104927"/>
                    <a:pt x="106666" y="120000"/>
                  </a:cubicBezTo>
                  <a:cubicBezTo>
                    <a:pt x="120000" y="120000"/>
                    <a:pt x="120000" y="120000"/>
                    <a:pt x="120000" y="120000"/>
                  </a:cubicBezTo>
                  <a:cubicBezTo>
                    <a:pt x="101333" y="104347"/>
                    <a:pt x="84000" y="88115"/>
                    <a:pt x="66666" y="71304"/>
                  </a:cubicBezTo>
                  <a:cubicBezTo>
                    <a:pt x="45333" y="51014"/>
                    <a:pt x="26666" y="29565"/>
                    <a:pt x="8000" y="8695"/>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14"/>
            <p:cNvSpPr/>
            <p:nvPr/>
          </p:nvSpPr>
          <p:spPr>
            <a:xfrm>
              <a:off x="7037388" y="3811702"/>
              <a:ext cx="457200" cy="1853390"/>
            </a:xfrm>
            <a:custGeom>
              <a:avLst/>
              <a:gdLst/>
              <a:ahLst/>
              <a:cxnLst/>
              <a:rect l="l" t="t" r="r" b="b"/>
              <a:pathLst>
                <a:path w="120000" h="120000" extrusionOk="0">
                  <a:moveTo>
                    <a:pt x="105391" y="105096"/>
                  </a:moveTo>
                  <a:cubicBezTo>
                    <a:pt x="97043" y="99700"/>
                    <a:pt x="88695" y="94047"/>
                    <a:pt x="81391" y="88394"/>
                  </a:cubicBezTo>
                  <a:cubicBezTo>
                    <a:pt x="59478" y="72205"/>
                    <a:pt x="42782" y="55503"/>
                    <a:pt x="30260" y="38800"/>
                  </a:cubicBezTo>
                  <a:cubicBezTo>
                    <a:pt x="22956" y="30578"/>
                    <a:pt x="17739" y="22098"/>
                    <a:pt x="13565" y="13618"/>
                  </a:cubicBezTo>
                  <a:cubicBezTo>
                    <a:pt x="9391" y="8993"/>
                    <a:pt x="4173" y="4625"/>
                    <a:pt x="0" y="0"/>
                  </a:cubicBezTo>
                  <a:cubicBezTo>
                    <a:pt x="5217" y="13104"/>
                    <a:pt x="12521" y="26209"/>
                    <a:pt x="21913" y="39057"/>
                  </a:cubicBezTo>
                  <a:cubicBezTo>
                    <a:pt x="34434" y="56017"/>
                    <a:pt x="51130" y="72719"/>
                    <a:pt x="72000" y="89164"/>
                  </a:cubicBezTo>
                  <a:cubicBezTo>
                    <a:pt x="82434" y="97130"/>
                    <a:pt x="93913" y="105353"/>
                    <a:pt x="107478" y="113319"/>
                  </a:cubicBezTo>
                  <a:cubicBezTo>
                    <a:pt x="111652" y="115374"/>
                    <a:pt x="115826" y="117687"/>
                    <a:pt x="120000" y="119999"/>
                  </a:cubicBezTo>
                  <a:cubicBezTo>
                    <a:pt x="118956" y="119229"/>
                    <a:pt x="117913" y="118458"/>
                    <a:pt x="116869" y="117687"/>
                  </a:cubicBezTo>
                  <a:cubicBezTo>
                    <a:pt x="112695" y="113576"/>
                    <a:pt x="108521" y="109207"/>
                    <a:pt x="105391" y="105096"/>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14"/>
            <p:cNvSpPr/>
            <p:nvPr/>
          </p:nvSpPr>
          <p:spPr>
            <a:xfrm>
              <a:off x="6992938" y="1263949"/>
              <a:ext cx="144462" cy="2507424"/>
            </a:xfrm>
            <a:custGeom>
              <a:avLst/>
              <a:gdLst/>
              <a:ahLst/>
              <a:cxnLst/>
              <a:rect l="l" t="t" r="r" b="b"/>
              <a:pathLst>
                <a:path w="120000" h="120000" extrusionOk="0">
                  <a:moveTo>
                    <a:pt x="56666" y="120000"/>
                  </a:moveTo>
                  <a:cubicBezTo>
                    <a:pt x="50000" y="117725"/>
                    <a:pt x="46666" y="115450"/>
                    <a:pt x="43333" y="113175"/>
                  </a:cubicBezTo>
                  <a:cubicBezTo>
                    <a:pt x="26666" y="100473"/>
                    <a:pt x="16666" y="87962"/>
                    <a:pt x="16666" y="75450"/>
                  </a:cubicBezTo>
                  <a:cubicBezTo>
                    <a:pt x="16666" y="62748"/>
                    <a:pt x="26666" y="50236"/>
                    <a:pt x="43333" y="37535"/>
                  </a:cubicBezTo>
                  <a:cubicBezTo>
                    <a:pt x="50000" y="31279"/>
                    <a:pt x="60000" y="25023"/>
                    <a:pt x="73333" y="18767"/>
                  </a:cubicBezTo>
                  <a:cubicBezTo>
                    <a:pt x="86666" y="12511"/>
                    <a:pt x="100000" y="6255"/>
                    <a:pt x="120000" y="0"/>
                  </a:cubicBezTo>
                  <a:cubicBezTo>
                    <a:pt x="116666" y="0"/>
                    <a:pt x="116666" y="0"/>
                    <a:pt x="116666" y="0"/>
                  </a:cubicBezTo>
                  <a:cubicBezTo>
                    <a:pt x="96666" y="6255"/>
                    <a:pt x="80000" y="12511"/>
                    <a:pt x="66666" y="18767"/>
                  </a:cubicBezTo>
                  <a:cubicBezTo>
                    <a:pt x="53333" y="25023"/>
                    <a:pt x="43333" y="31279"/>
                    <a:pt x="33333" y="37535"/>
                  </a:cubicBezTo>
                  <a:cubicBezTo>
                    <a:pt x="13333" y="50047"/>
                    <a:pt x="3333" y="62748"/>
                    <a:pt x="3333" y="75450"/>
                  </a:cubicBezTo>
                  <a:cubicBezTo>
                    <a:pt x="0" y="87393"/>
                    <a:pt x="6666" y="99526"/>
                    <a:pt x="23333" y="111658"/>
                  </a:cubicBezTo>
                  <a:cubicBezTo>
                    <a:pt x="33333" y="114312"/>
                    <a:pt x="43333" y="117156"/>
                    <a:pt x="53333" y="119810"/>
                  </a:cubicBezTo>
                  <a:cubicBezTo>
                    <a:pt x="53333" y="119810"/>
                    <a:pt x="56666" y="120000"/>
                    <a:pt x="56666" y="12000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 name="Google Shape;25;p14"/>
            <p:cNvSpPr/>
            <p:nvPr/>
          </p:nvSpPr>
          <p:spPr>
            <a:xfrm>
              <a:off x="7526338" y="5640544"/>
              <a:ext cx="111125" cy="233207"/>
            </a:xfrm>
            <a:custGeom>
              <a:avLst/>
              <a:gdLst/>
              <a:ahLst/>
              <a:cxnLst/>
              <a:rect l="l" t="t" r="r" b="b"/>
              <a:pathLst>
                <a:path w="120000" h="120000" extrusionOk="0">
                  <a:moveTo>
                    <a:pt x="94285" y="120000"/>
                  </a:moveTo>
                  <a:cubicBezTo>
                    <a:pt x="119999" y="120000"/>
                    <a:pt x="119999" y="120000"/>
                    <a:pt x="119999" y="120000"/>
                  </a:cubicBezTo>
                  <a:cubicBezTo>
                    <a:pt x="77142" y="81355"/>
                    <a:pt x="38571" y="40677"/>
                    <a:pt x="0" y="0"/>
                  </a:cubicBezTo>
                  <a:cubicBezTo>
                    <a:pt x="25714" y="40677"/>
                    <a:pt x="55714" y="81355"/>
                    <a:pt x="94285" y="12000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Google Shape;26;p14"/>
            <p:cNvSpPr/>
            <p:nvPr/>
          </p:nvSpPr>
          <p:spPr>
            <a:xfrm>
              <a:off x="7021513" y="3597782"/>
              <a:ext cx="68262" cy="426087"/>
            </a:xfrm>
            <a:custGeom>
              <a:avLst/>
              <a:gdLst/>
              <a:ahLst/>
              <a:cxnLst/>
              <a:rect l="l" t="t" r="r" b="b"/>
              <a:pathLst>
                <a:path w="120000" h="120000" extrusionOk="0">
                  <a:moveTo>
                    <a:pt x="28235" y="60560"/>
                  </a:moveTo>
                  <a:cubicBezTo>
                    <a:pt x="56470" y="80747"/>
                    <a:pt x="91764" y="99813"/>
                    <a:pt x="120000" y="120000"/>
                  </a:cubicBezTo>
                  <a:cubicBezTo>
                    <a:pt x="98823" y="96448"/>
                    <a:pt x="84705" y="72897"/>
                    <a:pt x="70588" y="49345"/>
                  </a:cubicBezTo>
                  <a:cubicBezTo>
                    <a:pt x="70588" y="49345"/>
                    <a:pt x="63529" y="48224"/>
                    <a:pt x="63529" y="48224"/>
                  </a:cubicBezTo>
                  <a:cubicBezTo>
                    <a:pt x="42352" y="32523"/>
                    <a:pt x="21176" y="15700"/>
                    <a:pt x="0" y="0"/>
                  </a:cubicBezTo>
                  <a:cubicBezTo>
                    <a:pt x="0" y="2242"/>
                    <a:pt x="0" y="5607"/>
                    <a:pt x="0" y="8971"/>
                  </a:cubicBezTo>
                  <a:cubicBezTo>
                    <a:pt x="7058" y="25794"/>
                    <a:pt x="21176" y="43738"/>
                    <a:pt x="28235" y="6056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Google Shape;27;p14"/>
            <p:cNvSpPr/>
            <p:nvPr/>
          </p:nvSpPr>
          <p:spPr>
            <a:xfrm>
              <a:off x="7412038" y="2801719"/>
              <a:ext cx="1168400" cy="2251421"/>
            </a:xfrm>
            <a:custGeom>
              <a:avLst/>
              <a:gdLst/>
              <a:ahLst/>
              <a:cxnLst/>
              <a:rect l="l" t="t" r="r" b="b"/>
              <a:pathLst>
                <a:path w="120000" h="120000" extrusionOk="0">
                  <a:moveTo>
                    <a:pt x="3265" y="116830"/>
                  </a:moveTo>
                  <a:cubicBezTo>
                    <a:pt x="3673" y="105845"/>
                    <a:pt x="7755" y="94647"/>
                    <a:pt x="14285" y="83873"/>
                  </a:cubicBezTo>
                  <a:cubicBezTo>
                    <a:pt x="20816" y="73309"/>
                    <a:pt x="29795" y="62957"/>
                    <a:pt x="40408" y="53239"/>
                  </a:cubicBezTo>
                  <a:cubicBezTo>
                    <a:pt x="50612" y="43309"/>
                    <a:pt x="62857" y="34014"/>
                    <a:pt x="76326" y="25140"/>
                  </a:cubicBezTo>
                  <a:cubicBezTo>
                    <a:pt x="82857" y="20704"/>
                    <a:pt x="89795" y="16267"/>
                    <a:pt x="97142" y="12253"/>
                  </a:cubicBezTo>
                  <a:cubicBezTo>
                    <a:pt x="100816" y="10140"/>
                    <a:pt x="104489" y="8028"/>
                    <a:pt x="108163" y="5915"/>
                  </a:cubicBezTo>
                  <a:cubicBezTo>
                    <a:pt x="111836" y="4014"/>
                    <a:pt x="115918" y="1901"/>
                    <a:pt x="120000" y="0"/>
                  </a:cubicBezTo>
                  <a:cubicBezTo>
                    <a:pt x="119591" y="0"/>
                    <a:pt x="119591" y="0"/>
                    <a:pt x="119591" y="0"/>
                  </a:cubicBezTo>
                  <a:cubicBezTo>
                    <a:pt x="115510" y="1901"/>
                    <a:pt x="111428" y="3802"/>
                    <a:pt x="107755" y="5704"/>
                  </a:cubicBezTo>
                  <a:cubicBezTo>
                    <a:pt x="104081" y="7816"/>
                    <a:pt x="100408" y="9929"/>
                    <a:pt x="96734" y="11830"/>
                  </a:cubicBezTo>
                  <a:cubicBezTo>
                    <a:pt x="88979" y="16056"/>
                    <a:pt x="82040" y="20281"/>
                    <a:pt x="75510" y="24718"/>
                  </a:cubicBezTo>
                  <a:cubicBezTo>
                    <a:pt x="61632" y="33591"/>
                    <a:pt x="49387" y="42887"/>
                    <a:pt x="38775" y="52605"/>
                  </a:cubicBezTo>
                  <a:cubicBezTo>
                    <a:pt x="27755" y="62535"/>
                    <a:pt x="18775" y="72887"/>
                    <a:pt x="12244" y="83661"/>
                  </a:cubicBezTo>
                  <a:cubicBezTo>
                    <a:pt x="5306" y="94014"/>
                    <a:pt x="1224" y="105000"/>
                    <a:pt x="0" y="115985"/>
                  </a:cubicBezTo>
                  <a:cubicBezTo>
                    <a:pt x="1224" y="117253"/>
                    <a:pt x="2040" y="118521"/>
                    <a:pt x="2857" y="120000"/>
                  </a:cubicBezTo>
                  <a:cubicBezTo>
                    <a:pt x="2857" y="118943"/>
                    <a:pt x="2857" y="117887"/>
                    <a:pt x="3265" y="11683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28;p14"/>
            <p:cNvSpPr/>
            <p:nvPr/>
          </p:nvSpPr>
          <p:spPr>
            <a:xfrm>
              <a:off x="7494588" y="5665092"/>
              <a:ext cx="100012" cy="208659"/>
            </a:xfrm>
            <a:custGeom>
              <a:avLst/>
              <a:gdLst/>
              <a:ahLst/>
              <a:cxnLst/>
              <a:rect l="l" t="t" r="r" b="b"/>
              <a:pathLst>
                <a:path w="120000" h="120000" extrusionOk="0">
                  <a:moveTo>
                    <a:pt x="0" y="0"/>
                  </a:moveTo>
                  <a:cubicBezTo>
                    <a:pt x="24000" y="40754"/>
                    <a:pt x="57600" y="81509"/>
                    <a:pt x="91200" y="120000"/>
                  </a:cubicBezTo>
                  <a:cubicBezTo>
                    <a:pt x="120000" y="120000"/>
                    <a:pt x="120000" y="120000"/>
                    <a:pt x="120000" y="120000"/>
                  </a:cubicBezTo>
                  <a:cubicBezTo>
                    <a:pt x="76800" y="81509"/>
                    <a:pt x="38400" y="40754"/>
                    <a:pt x="0" y="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14"/>
            <p:cNvSpPr/>
            <p:nvPr/>
          </p:nvSpPr>
          <p:spPr>
            <a:xfrm>
              <a:off x="7412038" y="5081195"/>
              <a:ext cx="114300" cy="559349"/>
            </a:xfrm>
            <a:custGeom>
              <a:avLst/>
              <a:gdLst/>
              <a:ahLst/>
              <a:cxnLst/>
              <a:rect l="l" t="t" r="r" b="b"/>
              <a:pathLst>
                <a:path w="120000" h="120000" extrusionOk="0">
                  <a:moveTo>
                    <a:pt x="0" y="0"/>
                  </a:moveTo>
                  <a:cubicBezTo>
                    <a:pt x="0" y="25531"/>
                    <a:pt x="8275" y="51063"/>
                    <a:pt x="28965" y="75744"/>
                  </a:cubicBezTo>
                  <a:cubicBezTo>
                    <a:pt x="45517" y="83404"/>
                    <a:pt x="57931" y="91914"/>
                    <a:pt x="74482" y="99574"/>
                  </a:cubicBezTo>
                  <a:cubicBezTo>
                    <a:pt x="91034" y="106382"/>
                    <a:pt x="103448" y="113191"/>
                    <a:pt x="120000" y="120000"/>
                  </a:cubicBezTo>
                  <a:cubicBezTo>
                    <a:pt x="115862" y="118297"/>
                    <a:pt x="115862" y="116595"/>
                    <a:pt x="111724" y="114893"/>
                  </a:cubicBezTo>
                  <a:cubicBezTo>
                    <a:pt x="66206" y="83404"/>
                    <a:pt x="41379" y="51063"/>
                    <a:pt x="33103" y="18723"/>
                  </a:cubicBezTo>
                  <a:cubicBezTo>
                    <a:pt x="28965" y="15319"/>
                    <a:pt x="20689" y="12765"/>
                    <a:pt x="16551" y="9361"/>
                  </a:cubicBezTo>
                  <a:cubicBezTo>
                    <a:pt x="8275" y="5957"/>
                    <a:pt x="4137" y="2553"/>
                    <a:pt x="0" y="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14"/>
            <p:cNvSpPr/>
            <p:nvPr/>
          </p:nvSpPr>
          <p:spPr>
            <a:xfrm>
              <a:off x="7412038" y="4977742"/>
              <a:ext cx="31750" cy="189372"/>
            </a:xfrm>
            <a:custGeom>
              <a:avLst/>
              <a:gdLst/>
              <a:ahLst/>
              <a:cxnLst/>
              <a:rect l="l" t="t" r="r" b="b"/>
              <a:pathLst>
                <a:path w="120000" h="120000" extrusionOk="0">
                  <a:moveTo>
                    <a:pt x="0" y="65000"/>
                  </a:moveTo>
                  <a:cubicBezTo>
                    <a:pt x="15000" y="72500"/>
                    <a:pt x="30000" y="82500"/>
                    <a:pt x="60000" y="92500"/>
                  </a:cubicBezTo>
                  <a:cubicBezTo>
                    <a:pt x="75000" y="102500"/>
                    <a:pt x="105000" y="110000"/>
                    <a:pt x="120000" y="120000"/>
                  </a:cubicBezTo>
                  <a:cubicBezTo>
                    <a:pt x="105000" y="95000"/>
                    <a:pt x="105000" y="70000"/>
                    <a:pt x="105000" y="47500"/>
                  </a:cubicBezTo>
                  <a:cubicBezTo>
                    <a:pt x="75000" y="30000"/>
                    <a:pt x="45000" y="15000"/>
                    <a:pt x="0" y="0"/>
                  </a:cubicBezTo>
                  <a:cubicBezTo>
                    <a:pt x="0" y="2500"/>
                    <a:pt x="0" y="7500"/>
                    <a:pt x="0" y="10000"/>
                  </a:cubicBezTo>
                  <a:cubicBezTo>
                    <a:pt x="0" y="27500"/>
                    <a:pt x="0" y="47500"/>
                    <a:pt x="0" y="6500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31;p14"/>
            <p:cNvSpPr/>
            <p:nvPr/>
          </p:nvSpPr>
          <p:spPr>
            <a:xfrm>
              <a:off x="7439025" y="5433637"/>
              <a:ext cx="174625" cy="440114"/>
            </a:xfrm>
            <a:custGeom>
              <a:avLst/>
              <a:gdLst/>
              <a:ahLst/>
              <a:cxnLst/>
              <a:rect l="l" t="t" r="r" b="b"/>
              <a:pathLst>
                <a:path w="120000" h="120000" extrusionOk="0">
                  <a:moveTo>
                    <a:pt x="30000" y="30270"/>
                  </a:moveTo>
                  <a:cubicBezTo>
                    <a:pt x="19090" y="20540"/>
                    <a:pt x="10909" y="9729"/>
                    <a:pt x="0" y="0"/>
                  </a:cubicBezTo>
                  <a:cubicBezTo>
                    <a:pt x="8181" y="17297"/>
                    <a:pt x="19090" y="35675"/>
                    <a:pt x="30000" y="52972"/>
                  </a:cubicBezTo>
                  <a:cubicBezTo>
                    <a:pt x="32727" y="56216"/>
                    <a:pt x="35454" y="59459"/>
                    <a:pt x="38181" y="62702"/>
                  </a:cubicBezTo>
                  <a:cubicBezTo>
                    <a:pt x="60000" y="82162"/>
                    <a:pt x="81818" y="101621"/>
                    <a:pt x="106363" y="120000"/>
                  </a:cubicBezTo>
                  <a:cubicBezTo>
                    <a:pt x="120000" y="120000"/>
                    <a:pt x="120000" y="120000"/>
                    <a:pt x="120000" y="120000"/>
                  </a:cubicBezTo>
                  <a:cubicBezTo>
                    <a:pt x="95454" y="99459"/>
                    <a:pt x="76363" y="77837"/>
                    <a:pt x="60000" y="56216"/>
                  </a:cubicBezTo>
                  <a:cubicBezTo>
                    <a:pt x="49090" y="47567"/>
                    <a:pt x="40909" y="38918"/>
                    <a:pt x="30000" y="30270"/>
                  </a:cubicBezTo>
                </a:path>
              </a:pathLst>
            </a:cu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2" name="Google Shape;32;p14"/>
          <p:cNvSpPr/>
          <p:nvPr/>
        </p:nvSpPr>
        <p:spPr>
          <a:xfrm>
            <a:off x="0" y="0"/>
            <a:ext cx="182563" cy="5143500"/>
          </a:xfrm>
          <a:prstGeom prst="rect">
            <a:avLst/>
          </a:prstGeom>
          <a:solidFill>
            <a:srgbClr val="2E53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14"/>
          <p:cNvSpPr/>
          <p:nvPr/>
        </p:nvSpPr>
        <p:spPr>
          <a:xfrm>
            <a:off x="3886200" y="4600575"/>
            <a:ext cx="2286000" cy="273050"/>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b="0"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rPr>
              <a:t>Acharya Institute of Technology</a:t>
            </a:r>
            <a:endParaRPr lang="en-US" sz="900" b="0" i="0" u="none" strike="noStrike" cap="none">
              <a:solidFill>
                <a:srgbClr val="000000"/>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4" name="Google Shape;34;p14"/>
          <p:cNvSpPr/>
          <p:nvPr/>
        </p:nvSpPr>
        <p:spPr>
          <a:xfrm>
            <a:off x="2590800" y="4600575"/>
            <a:ext cx="1219200" cy="273050"/>
          </a:xfrm>
          <a:prstGeom prst="rect">
            <a:avLst/>
          </a:prstGeom>
          <a:solidFill>
            <a:srgbClr val="223A8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rPr>
              <a:t>Department of ISE</a:t>
            </a:r>
            <a:endParaRPr lang="en-US" sz="900" b="0" i="0" u="none" strike="noStrike" cap="none">
              <a:solidFill>
                <a:srgbClr val="FF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5" name="Google Shape;35;p14"/>
          <p:cNvSpPr/>
          <p:nvPr/>
        </p:nvSpPr>
        <p:spPr>
          <a:xfrm rot="10800000" flipH="1">
            <a:off x="26988" y="4760913"/>
            <a:ext cx="1382712" cy="381000"/>
          </a:xfrm>
          <a:custGeom>
            <a:avLst/>
            <a:gdLst/>
            <a:ahLst/>
            <a:cxnLst/>
            <a:rect l="l" t="t" r="r" b="b"/>
            <a:pathLst>
              <a:path w="120000" h="120000" extrusionOk="0">
                <a:moveTo>
                  <a:pt x="120000" y="56328"/>
                </a:moveTo>
                <a:lnTo>
                  <a:pt x="99772" y="2256"/>
                </a:lnTo>
                <a:cubicBezTo>
                  <a:pt x="99635" y="1884"/>
                  <a:pt x="99468" y="1500"/>
                  <a:pt x="99332" y="1128"/>
                </a:cubicBezTo>
                <a:cubicBezTo>
                  <a:pt x="98922" y="0"/>
                  <a:pt x="98497" y="0"/>
                  <a:pt x="98072" y="0"/>
                </a:cubicBezTo>
                <a:lnTo>
                  <a:pt x="90060" y="0"/>
                </a:lnTo>
                <a:lnTo>
                  <a:pt x="0" y="744"/>
                </a:lnTo>
                <a:lnTo>
                  <a:pt x="0" y="120000"/>
                </a:lnTo>
                <a:lnTo>
                  <a:pt x="90060" y="119424"/>
                </a:lnTo>
                <a:lnTo>
                  <a:pt x="98072" y="119424"/>
                </a:lnTo>
                <a:cubicBezTo>
                  <a:pt x="98497" y="119424"/>
                  <a:pt x="98922" y="118308"/>
                  <a:pt x="99332" y="118308"/>
                </a:cubicBezTo>
                <a:cubicBezTo>
                  <a:pt x="99332" y="117168"/>
                  <a:pt x="99772" y="117168"/>
                  <a:pt x="99772" y="117168"/>
                </a:cubicBezTo>
                <a:lnTo>
                  <a:pt x="120000" y="63096"/>
                </a:lnTo>
                <a:cubicBezTo>
                  <a:pt x="120834" y="60840"/>
                  <a:pt x="120834" y="58596"/>
                  <a:pt x="120000" y="56328"/>
                </a:cubicBezTo>
              </a:path>
            </a:pathLst>
          </a:custGeom>
          <a:solidFill>
            <a:srgbClr val="35353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4"/>
          <p:cNvSpPr txBox="1">
            <a:spLocks noGrp="1"/>
          </p:cNvSpPr>
          <p:nvPr>
            <p:ph type="title"/>
          </p:nvPr>
        </p:nvSpPr>
        <p:spPr>
          <a:xfrm>
            <a:off x="1944688" y="468313"/>
            <a:ext cx="6589712" cy="96043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7" name="Google Shape;37;p14"/>
          <p:cNvSpPr txBox="1">
            <a:spLocks noGrp="1"/>
          </p:cNvSpPr>
          <p:nvPr>
            <p:ph type="body" idx="1"/>
          </p:nvPr>
        </p:nvSpPr>
        <p:spPr>
          <a:xfrm>
            <a:off x="1943100" y="1600200"/>
            <a:ext cx="6591300" cy="2914650"/>
          </a:xfrm>
          <a:prstGeom prst="rect">
            <a:avLst/>
          </a:prstGeom>
          <a:noFill/>
          <a:ln>
            <a:noFill/>
          </a:ln>
        </p:spPr>
        <p:txBody>
          <a:bodyPr spcFirstLastPara="1" wrap="square" lIns="91425" tIns="91425" rIns="91425" bIns="91425" anchor="t" anchorCtr="0">
            <a:noAutofit/>
          </a:bodyPr>
          <a:lstStyle>
            <a:lvl1pPr marL="457200" marR="0" lvl="0" indent="-31750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spcBef>
                <a:spcPts val="0"/>
              </a:spcBef>
              <a:spcAft>
                <a:spcPts val="0"/>
              </a:spcAft>
              <a:buClr>
                <a:srgbClr val="000000"/>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8" name="Google Shape;38;p14"/>
          <p:cNvSpPr txBox="1">
            <a:spLocks noGrp="1"/>
          </p:cNvSpPr>
          <p:nvPr>
            <p:ph type="dt" idx="10"/>
          </p:nvPr>
        </p:nvSpPr>
        <p:spPr>
          <a:xfrm>
            <a:off x="7772400" y="4602163"/>
            <a:ext cx="766763" cy="276225"/>
          </a:xfrm>
          <a:prstGeom prst="rect">
            <a:avLst/>
          </a:prstGeom>
          <a:noFill/>
          <a:ln>
            <a:noFill/>
          </a:ln>
        </p:spPr>
        <p:txBody>
          <a:bodyPr spcFirstLastPara="1" wrap="square" lIns="91425" tIns="91425" rIns="91425" bIns="91425" anchor="ctr" anchorCtr="0">
            <a:noAutofit/>
          </a:bodyPr>
          <a:lstStyle>
            <a:lvl1pPr marR="0" lvl="0" algn="r" rtl="0">
              <a:spcBef>
                <a:spcPts val="0"/>
              </a:spcBef>
              <a:spcAft>
                <a:spcPts val="0"/>
              </a:spcAft>
              <a:buSzPts val="1400"/>
              <a:buNone/>
              <a:defRPr sz="900" b="0" i="0" u="none" strike="noStrike" cap="none">
                <a:solidFill>
                  <a:srgbClr val="898989"/>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9" name="Google Shape;39;p14"/>
          <p:cNvSpPr txBox="1">
            <a:spLocks noGrp="1"/>
          </p:cNvSpPr>
          <p:nvPr>
            <p:ph type="ftr" idx="11"/>
          </p:nvPr>
        </p:nvSpPr>
        <p:spPr>
          <a:xfrm>
            <a:off x="1943100" y="4602163"/>
            <a:ext cx="5716588" cy="273050"/>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900" b="1" i="1" u="none" strike="noStrike" cap="none">
                <a:solidFill>
                  <a:srgbClr val="898989"/>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pic>
        <p:nvPicPr>
          <p:cNvPr id="40" name="Google Shape;40;p14" descr="C:\Users\CHAYAPATHI-CPN\Desktop\download.png"/>
          <p:cNvPicPr preferRelativeResize="0"/>
          <p:nvPr/>
        </p:nvPicPr>
        <p:blipFill rotWithShape="1">
          <a:blip r:embed="rId3"/>
          <a:srcRect/>
          <a:stretch>
            <a:fillRect/>
          </a:stretch>
        </p:blipFill>
        <p:spPr>
          <a:xfrm>
            <a:off x="8197850" y="33338"/>
            <a:ext cx="914400" cy="11779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txBox="1">
            <a:spLocks noGrp="1"/>
          </p:cNvSpPr>
          <p:nvPr>
            <p:ph type="ctrTitle" idx="4294967295"/>
          </p:nvPr>
        </p:nvSpPr>
        <p:spPr>
          <a:xfrm>
            <a:off x="568326" y="738981"/>
            <a:ext cx="7570787" cy="13112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Title: Train</a:t>
            </a:r>
            <a:r>
              <a:rPr lang="en-US" sz="2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 Accident Prevention Using IOT</a:t>
            </a:r>
            <a:endParaRPr sz="2800" b="1"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56" name="Google Shape;56;p1"/>
          <p:cNvSpPr txBox="1">
            <a:spLocks noGrp="1"/>
          </p:cNvSpPr>
          <p:nvPr>
            <p:ph type="subTitle" idx="4294967295"/>
          </p:nvPr>
        </p:nvSpPr>
        <p:spPr>
          <a:xfrm>
            <a:off x="152400" y="2214404"/>
            <a:ext cx="8777288" cy="16811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53535"/>
              </a:buClr>
              <a:buSzPts val="550"/>
              <a:buFont typeface="Times New Roman" panose="02020603050405020304"/>
              <a:buNone/>
            </a:pPr>
            <a:r>
              <a:rPr lang="en-US" sz="2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Under the Guidance</a:t>
            </a:r>
            <a:r>
              <a:rPr lang="en-US"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of</a:t>
            </a:r>
            <a:r>
              <a:rPr lang="en-US"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rgbClr val="353535"/>
              </a:buClr>
              <a:buSzPts val="550"/>
              <a:buFont typeface="Times New Roman" panose="02020603050405020304"/>
              <a:buNone/>
            </a:pPr>
            <a:r>
              <a:rPr lang="en-US" sz="2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rPr>
              <a:t>Prof. Jagadish N</a:t>
            </a:r>
            <a:endPar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0"/>
              </a:spcBef>
              <a:spcAft>
                <a:spcPts val="0"/>
              </a:spcAft>
              <a:buClr>
                <a:srgbClr val="353535"/>
              </a:buClr>
              <a:buSzPts val="550"/>
              <a:buFont typeface="Times New Roman" panose="02020603050405020304"/>
              <a:buNone/>
            </a:pPr>
            <a:r>
              <a:rPr lang="en-US" sz="1800" b="1" dirty="0">
                <a:solidFill>
                  <a:srgbClr val="404040"/>
                </a:solidFill>
                <a:latin typeface="Calibri" panose="020F0502020204030204"/>
                <a:ea typeface="Calibri" panose="020F0502020204030204"/>
                <a:cs typeface="Calibri" panose="020F0502020204030204"/>
                <a:sym typeface="Calibri" panose="020F0502020204030204"/>
              </a:rPr>
              <a:t>                   Assistant Professor</a:t>
            </a:r>
            <a:r>
              <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rPr>
              <a:t>            </a:t>
            </a:r>
            <a:endPar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0"/>
              </a:spcBef>
              <a:spcAft>
                <a:spcPts val="0"/>
              </a:spcAft>
              <a:buClr>
                <a:srgbClr val="353535"/>
              </a:buClr>
              <a:buSzPts val="550"/>
              <a:buFont typeface="Times New Roman" panose="02020603050405020304"/>
              <a:buNone/>
            </a:pPr>
            <a:r>
              <a:rPr lang="en-US" sz="1800" b="1" dirty="0">
                <a:solidFill>
                  <a:srgbClr val="404040"/>
                </a:solidFill>
                <a:latin typeface="Calibri" panose="020F0502020204030204"/>
                <a:ea typeface="Calibri" panose="020F0502020204030204"/>
                <a:cs typeface="Calibri" panose="020F0502020204030204"/>
                <a:sym typeface="Calibri" panose="020F0502020204030204"/>
              </a:rPr>
              <a:t>                 </a:t>
            </a:r>
            <a:r>
              <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rPr>
              <a:t>Department of ISE</a:t>
            </a:r>
            <a:endParaRPr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0"/>
              </a:spcBef>
              <a:spcAft>
                <a:spcPts val="0"/>
              </a:spcAft>
              <a:buClr>
                <a:srgbClr val="353535"/>
              </a:buClr>
              <a:buSzPts val="450"/>
              <a:buFont typeface="Calibri" panose="020F0502020204030204"/>
              <a:buNone/>
            </a:pPr>
            <a:r>
              <a:rPr lang="en-US"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rPr>
              <a:t>        Acharya Institute Of Technology </a:t>
            </a:r>
            <a:endParaRPr sz="1800" b="1" i="0" u="none" strike="noStrike" cap="none" dirty="0">
              <a:solidFill>
                <a:srgbClr val="40404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1000"/>
              </a:spcBef>
              <a:spcAft>
                <a:spcPts val="0"/>
              </a:spcAft>
              <a:buClr>
                <a:srgbClr val="353535"/>
              </a:buClr>
              <a:buSzPts val="600"/>
              <a:buFont typeface="Noto Sans Symbols"/>
              <a:buNone/>
            </a:pPr>
            <a:endParaRPr sz="2400" b="1" i="0" u="none" strike="noStrike" cap="none" dirty="0">
              <a:solidFill>
                <a:srgbClr val="404040"/>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90000"/>
              </a:lnSpc>
              <a:spcBef>
                <a:spcPts val="1000"/>
              </a:spcBef>
              <a:spcAft>
                <a:spcPts val="0"/>
              </a:spcAft>
              <a:buClr>
                <a:srgbClr val="353535"/>
              </a:buClr>
              <a:buSzPts val="550"/>
              <a:buFont typeface="Noto Sans Symbols"/>
              <a:buNone/>
            </a:pPr>
            <a:endParaRPr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rgbClr val="353535"/>
              </a:buClr>
              <a:buSzPts val="550"/>
              <a:buFont typeface="Times New Roman" panose="02020603050405020304"/>
              <a:buNone/>
            </a:pPr>
            <a:r>
              <a:rPr lang="en-US"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rgbClr val="353535"/>
              </a:buClr>
              <a:buSzPts val="550"/>
              <a:buFont typeface="Noto Sans Symbols"/>
              <a:buNone/>
            </a:pPr>
            <a:r>
              <a:rPr lang="en-US"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rgbClr val="353535"/>
              </a:buClr>
              <a:buSzPts val="550"/>
              <a:buFont typeface="Noto Sans Symbols"/>
              <a:buNone/>
            </a:pPr>
            <a:endParaRPr sz="2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rgbClr val="353535"/>
              </a:buClr>
              <a:buSzPts val="750"/>
              <a:buFont typeface="Noto Sans Symbols"/>
              <a:buNone/>
            </a:pPr>
            <a:endParaRPr sz="3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rgbClr val="353535"/>
              </a:buClr>
              <a:buSzPts val="750"/>
              <a:buFont typeface="Noto Sans Symbols"/>
              <a:buNone/>
            </a:pPr>
            <a:endParaRPr sz="3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 name="Google Shape;57;p1"/>
          <p:cNvSpPr/>
          <p:nvPr/>
        </p:nvSpPr>
        <p:spPr>
          <a:xfrm>
            <a:off x="5592763" y="2358390"/>
            <a:ext cx="3398837" cy="2298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i="0" u="sng" strike="noStrike" cap="none" dirty="0">
                <a:solidFill>
                  <a:srgbClr val="000000"/>
                </a:solidFill>
                <a:latin typeface="Arial" panose="020B0604020202020204"/>
                <a:ea typeface="Arial" panose="020B0604020202020204"/>
                <a:cs typeface="Arial" panose="020B0604020202020204"/>
                <a:sym typeface="Arial" panose="020B0604020202020204"/>
              </a:rPr>
              <a:t>Batch No:-</a:t>
            </a:r>
            <a:r>
              <a:rPr lang="en-US" sz="1800" b="0" i="0" u="none" strike="noStrike" cap="none" dirty="0">
                <a:solidFill>
                  <a:srgbClr val="000000"/>
                </a:solidFill>
                <a:latin typeface="Arial" panose="020B0604020202020204"/>
                <a:ea typeface="Arial" panose="020B0604020202020204"/>
                <a:cs typeface="Arial" panose="020B0604020202020204"/>
                <a:sym typeface="Arial" panose="020B0604020202020204"/>
              </a:rPr>
              <a:t> 14</a:t>
            </a:r>
            <a:endParaRPr dirty="0"/>
          </a:p>
          <a:p>
            <a:pPr marL="0" marR="0" lvl="0" indent="0" algn="l" rtl="0">
              <a:spcBef>
                <a:spcPts val="0"/>
              </a:spcBef>
              <a:spcAft>
                <a:spcPts val="0"/>
              </a:spcAft>
              <a:buNone/>
            </a:pPr>
            <a:r>
              <a:rPr lang="en-US" sz="1800" b="1" i="0" u="sng" strike="noStrike" cap="none" dirty="0">
                <a:solidFill>
                  <a:srgbClr val="000000"/>
                </a:solidFill>
                <a:latin typeface="Arial" panose="020B0604020202020204"/>
                <a:ea typeface="Arial" panose="020B0604020202020204"/>
                <a:cs typeface="Arial" panose="020B0604020202020204"/>
                <a:sym typeface="Arial" panose="020B0604020202020204"/>
              </a:rPr>
              <a:t>Project Team  Members: </a:t>
            </a:r>
            <a:endParaRPr dirty="0"/>
          </a:p>
          <a:p>
            <a:pPr marL="0" marR="0" lvl="0" indent="0" algn="l" rtl="0">
              <a:spcBef>
                <a:spcPts val="0"/>
              </a:spcBef>
              <a:spcAft>
                <a:spcPts val="0"/>
              </a:spcAft>
              <a:buNone/>
            </a:pPr>
            <a:endParaRPr lang="en-IN" sz="1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IN" sz="1800" b="1" dirty="0">
                <a:solidFill>
                  <a:srgbClr val="3F3F3F"/>
                </a:solidFill>
                <a:latin typeface="Calibri" panose="020F0502020204030204"/>
                <a:ea typeface="Calibri" panose="020F0502020204030204"/>
                <a:cs typeface="Calibri" panose="020F0502020204030204"/>
                <a:sym typeface="Calibri" panose="020F0502020204030204"/>
              </a:rPr>
              <a:t>Nitu Moni	 </a:t>
            </a:r>
            <a:r>
              <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rPr>
              <a:t>(</a:t>
            </a:r>
            <a:r>
              <a:rPr lang="en-IN" sz="1800" b="1" dirty="0">
                <a:solidFill>
                  <a:srgbClr val="3F3F3F"/>
                </a:solidFill>
                <a:latin typeface="Calibri" panose="020F0502020204030204"/>
                <a:ea typeface="Calibri" panose="020F0502020204030204"/>
                <a:cs typeface="Calibri" panose="020F0502020204030204"/>
                <a:sym typeface="Calibri" panose="020F0502020204030204"/>
              </a:rPr>
              <a:t>1AY20IS060</a:t>
            </a:r>
            <a:r>
              <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rPr>
              <a:t>)</a:t>
            </a:r>
            <a:endPar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1800" b="1" dirty="0">
                <a:solidFill>
                  <a:srgbClr val="3F3F3F"/>
                </a:solidFill>
                <a:latin typeface="Calibri" panose="020F0502020204030204"/>
                <a:ea typeface="Calibri" panose="020F0502020204030204"/>
                <a:cs typeface="Calibri" panose="020F0502020204030204"/>
                <a:sym typeface="Calibri" panose="020F0502020204030204"/>
              </a:rPr>
              <a:t>Manjunath N U	 </a:t>
            </a:r>
            <a:r>
              <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rPr>
              <a:t>(1AY21IS402)</a:t>
            </a:r>
            <a:endPar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endParaRPr>
          </a:p>
          <a:p>
            <a:r>
              <a:rPr lang="en-IN" sz="1800" b="1" dirty="0">
                <a:solidFill>
                  <a:srgbClr val="3F3F3F"/>
                </a:solidFill>
                <a:latin typeface="Calibri" panose="020F0502020204030204"/>
                <a:ea typeface="Calibri" panose="020F0502020204030204"/>
                <a:cs typeface="Calibri" panose="020F0502020204030204"/>
                <a:sym typeface="Calibri" panose="020F0502020204030204"/>
              </a:rPr>
              <a:t>Shireen    </a:t>
            </a:r>
            <a:r>
              <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rPr>
              <a:t>                  (1AY21IS404)</a:t>
            </a:r>
            <a:endParaRPr lang="en-IN" sz="1800" b="1" i="0" u="none" strike="noStrike" cap="none" dirty="0">
              <a:solidFill>
                <a:srgbClr val="3F3F3F"/>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lang="en-GB" sz="1800" b="0" i="0" u="none" strike="noStrike" cap="none" dirty="0">
              <a:solidFill>
                <a:srgbClr val="404040"/>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8" name="Google Shape;58;p1"/>
          <p:cNvSpPr txBox="1"/>
          <p:nvPr/>
        </p:nvSpPr>
        <p:spPr>
          <a:xfrm>
            <a:off x="401216" y="113858"/>
            <a:ext cx="7557796" cy="50006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b="0" i="0" u="none" strike="noStrike" cap="none" dirty="0">
                <a:solidFill>
                  <a:srgbClr val="C00000"/>
                </a:solidFill>
                <a:latin typeface="Calibri" panose="020F0502020204030204"/>
                <a:ea typeface="Calibri" panose="020F0502020204030204"/>
                <a:cs typeface="Calibri" panose="020F0502020204030204"/>
                <a:sym typeface="Calibri" panose="020F0502020204030204"/>
              </a:rPr>
              <a:t>PHASE-1  </a:t>
            </a:r>
            <a:r>
              <a:rPr lang="en-US" sz="3200" dirty="0">
                <a:solidFill>
                  <a:srgbClr val="C00000"/>
                </a:solidFill>
                <a:latin typeface="Calibri" panose="020F0502020204030204"/>
                <a:ea typeface="Calibri" panose="020F0502020204030204"/>
                <a:cs typeface="Calibri" panose="020F0502020204030204"/>
                <a:sym typeface="Calibri" panose="020F0502020204030204"/>
              </a:rPr>
              <a:t>Project </a:t>
            </a:r>
            <a:r>
              <a:rPr lang="en-US" sz="3200" b="0" i="0" u="none" strike="noStrike" cap="none" dirty="0">
                <a:solidFill>
                  <a:srgbClr val="C00000"/>
                </a:solidFill>
                <a:latin typeface="Calibri" panose="020F0502020204030204"/>
                <a:ea typeface="Calibri" panose="020F0502020204030204"/>
                <a:cs typeface="Calibri" panose="020F0502020204030204"/>
                <a:sym typeface="Calibri" panose="020F0502020204030204"/>
              </a:rPr>
              <a:t>Presentation(2023-2024)</a:t>
            </a:r>
            <a:endParaRPr sz="1200" dirty="0">
              <a:solidFill>
                <a:srgbClr val="C00000"/>
              </a:solidFill>
            </a:endParaRPr>
          </a:p>
        </p:txBody>
      </p:sp>
      <p:sp>
        <p:nvSpPr>
          <p:cNvPr id="59" name="Google Shape;59;p1"/>
          <p:cNvSpPr txBox="1"/>
          <p:nvPr/>
        </p:nvSpPr>
        <p:spPr>
          <a:xfrm>
            <a:off x="742950" y="4743451"/>
            <a:ext cx="70723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rPr>
              <a:t>1</a:t>
            </a:r>
            <a:endParaRPr sz="2000" b="1" i="1"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the IoT? Everything you need to know about the Internet of Things  right now | ZDNE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0175" y="787598"/>
            <a:ext cx="6343650" cy="3568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ctrTitle" idx="4294967295"/>
          </p:nvPr>
        </p:nvSpPr>
        <p:spPr>
          <a:xfrm>
            <a:off x="654437" y="62651"/>
            <a:ext cx="7765755" cy="5278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800" b="1" i="0" u="none" strike="noStrike" cap="none" dirty="0">
                <a:solidFill>
                  <a:srgbClr val="1581AA"/>
                </a:solidFill>
                <a:latin typeface="Calibri" panose="020F0502020204030204"/>
                <a:ea typeface="Calibri" panose="020F0502020204030204"/>
                <a:cs typeface="Calibri" panose="020F0502020204030204"/>
                <a:sym typeface="Calibri" panose="020F0502020204030204"/>
              </a:rPr>
              <a:t>Agenda</a:t>
            </a:r>
            <a:endParaRPr sz="1100" b="1" dirty="0"/>
          </a:p>
        </p:txBody>
      </p:sp>
      <p:sp>
        <p:nvSpPr>
          <p:cNvPr id="65" name="Google Shape;65;p2"/>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rPr>
            </a:fld>
            <a:endPara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66" name="Google Shape;66;p2"/>
          <p:cNvSpPr/>
          <p:nvPr/>
        </p:nvSpPr>
        <p:spPr>
          <a:xfrm>
            <a:off x="511175" y="590550"/>
            <a:ext cx="585788" cy="27305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rPr>
            </a:fld>
            <a:endPara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 name="TextBox 4"/>
          <p:cNvSpPr txBox="1"/>
          <p:nvPr/>
        </p:nvSpPr>
        <p:spPr>
          <a:xfrm>
            <a:off x="1362269" y="1259633"/>
            <a:ext cx="6531429" cy="2246769"/>
          </a:xfrm>
          <a:prstGeom prst="rect">
            <a:avLst/>
          </a:prstGeom>
          <a:noFill/>
        </p:spPr>
        <p:txBody>
          <a:bodyPr wrap="square" rtlCol="0">
            <a:spAutoFit/>
          </a:bodyPr>
          <a:lstStyle/>
          <a:p>
            <a:pPr marL="342900" indent="-342900">
              <a:buAutoNum type="arabicPeriod"/>
            </a:pPr>
            <a:r>
              <a:rPr lang="en-US" sz="2000" dirty="0">
                <a:latin typeface="+mj-lt"/>
              </a:rPr>
              <a:t>Introduction</a:t>
            </a:r>
            <a:endParaRPr lang="en-US" sz="2000" dirty="0">
              <a:latin typeface="+mj-lt"/>
            </a:endParaRPr>
          </a:p>
          <a:p>
            <a:pPr marL="342900" indent="-342900">
              <a:buAutoNum type="arabicPeriod"/>
            </a:pPr>
            <a:r>
              <a:rPr lang="en-US" sz="2000" dirty="0">
                <a:latin typeface="+mj-lt"/>
              </a:rPr>
              <a:t>Literature Survey</a:t>
            </a:r>
            <a:endParaRPr lang="en-US" sz="2000" dirty="0">
              <a:latin typeface="+mj-lt"/>
            </a:endParaRPr>
          </a:p>
          <a:p>
            <a:pPr marL="342900" indent="-342900">
              <a:buAutoNum type="arabicPeriod"/>
            </a:pPr>
            <a:r>
              <a:rPr lang="en-US" sz="2000" dirty="0">
                <a:latin typeface="+mj-lt"/>
              </a:rPr>
              <a:t>Summary Table</a:t>
            </a:r>
            <a:endParaRPr lang="en-US" sz="2000" dirty="0">
              <a:latin typeface="+mj-lt"/>
            </a:endParaRPr>
          </a:p>
          <a:p>
            <a:pPr marL="342900" indent="-342900">
              <a:buAutoNum type="arabicPeriod"/>
            </a:pPr>
            <a:r>
              <a:rPr lang="en-US" sz="2000" dirty="0">
                <a:latin typeface="+mj-lt"/>
              </a:rPr>
              <a:t>System Requirements</a:t>
            </a:r>
            <a:endParaRPr lang="en-US" sz="2000" dirty="0">
              <a:latin typeface="+mj-lt"/>
            </a:endParaRPr>
          </a:p>
          <a:p>
            <a:pPr marL="342900" indent="-342900">
              <a:buAutoNum type="arabicPeriod"/>
            </a:pPr>
            <a:r>
              <a:rPr lang="en-US" sz="2000" dirty="0">
                <a:latin typeface="+mj-lt"/>
              </a:rPr>
              <a:t>System Design </a:t>
            </a:r>
            <a:endParaRPr lang="en-US" sz="2000" dirty="0">
              <a:latin typeface="+mj-lt"/>
            </a:endParaRPr>
          </a:p>
          <a:p>
            <a:pPr marL="342900" indent="-342900">
              <a:buAutoNum type="arabicPeriod"/>
            </a:pPr>
            <a:r>
              <a:rPr lang="en-US" sz="2000" dirty="0">
                <a:latin typeface="+mj-lt"/>
              </a:rPr>
              <a:t>Possible Outcomes</a:t>
            </a:r>
            <a:endParaRPr lang="en-US" sz="2000" dirty="0">
              <a:latin typeface="+mj-lt"/>
            </a:endParaRPr>
          </a:p>
          <a:p>
            <a:pPr marL="342900" indent="-342900">
              <a:buAutoNum type="arabicPeriod"/>
            </a:pPr>
            <a:r>
              <a:rPr lang="en-US" sz="2000" dirty="0">
                <a:latin typeface="+mj-lt"/>
              </a:rPr>
              <a:t>References</a:t>
            </a:r>
            <a:endParaRPr lang="en-US" sz="2000" dirty="0">
              <a:latin typeface="+mj-lt"/>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ctrTitle" idx="4294967295"/>
          </p:nvPr>
        </p:nvSpPr>
        <p:spPr>
          <a:xfrm>
            <a:off x="605797" y="57150"/>
            <a:ext cx="7695847" cy="749311"/>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800" b="1" i="0" u="none" strike="noStrike" cap="none" dirty="0">
                <a:solidFill>
                  <a:srgbClr val="1581AA"/>
                </a:solidFill>
                <a:latin typeface="Calibri" panose="020F0502020204030204"/>
                <a:ea typeface="Calibri" panose="020F0502020204030204"/>
                <a:cs typeface="Calibri" panose="020F0502020204030204"/>
                <a:sym typeface="Calibri" panose="020F0502020204030204"/>
              </a:rPr>
              <a:t>Abstract</a:t>
            </a:r>
            <a:br>
              <a:rPr lang="en-US" sz="28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br>
            <a:endParaRPr sz="2800" b="1" i="0" u="none" strike="noStrike" cap="none" dirty="0">
              <a:solidFill>
                <a:srgbClr val="1581AA"/>
              </a:solidFill>
              <a:latin typeface="Calibri" panose="020F0502020204030204"/>
              <a:ea typeface="Calibri" panose="020F0502020204030204"/>
              <a:cs typeface="Calibri" panose="020F0502020204030204"/>
              <a:sym typeface="Calibri" panose="020F0502020204030204"/>
            </a:endParaRPr>
          </a:p>
        </p:txBody>
      </p:sp>
      <p:sp>
        <p:nvSpPr>
          <p:cNvPr id="74" name="Google Shape;74;p3"/>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rPr>
            </a:fld>
            <a:endParaRPr sz="2000" b="1" i="1"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75" name="Google Shape;75;p3"/>
          <p:cNvSpPr/>
          <p:nvPr/>
        </p:nvSpPr>
        <p:spPr>
          <a:xfrm>
            <a:off x="1499191" y="967563"/>
            <a:ext cx="4024903" cy="213950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rPr>
            </a:fld>
            <a:endPara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 name="TextBox 2"/>
          <p:cNvSpPr txBox="1"/>
          <p:nvPr/>
        </p:nvSpPr>
        <p:spPr>
          <a:xfrm>
            <a:off x="842356" y="806461"/>
            <a:ext cx="6961942" cy="3322955"/>
          </a:xfrm>
          <a:prstGeom prst="rect">
            <a:avLst/>
          </a:prstGeom>
          <a:noFill/>
        </p:spPr>
        <p:txBody>
          <a:bodyPr wrap="square">
            <a:spAutoFit/>
          </a:bodyPr>
          <a:lstStyle/>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Railway transport is the most cost- effective and best mode of passenger transportation in India, as well as for long-distance and suburban traffic.</a:t>
            </a:r>
            <a:r>
              <a:rPr lang="en-IN" altLang="en-US" b="0" i="0" u="none" strike="noStrike" baseline="0" dirty="0">
                <a:latin typeface="Times New Roman" panose="02020603050405020304" pitchFamily="18" charset="0"/>
                <a:cs typeface="Times New Roman" panose="02020603050405020304" pitchFamily="18" charset="0"/>
              </a:rPr>
              <a:t>In </a:t>
            </a:r>
            <a:r>
              <a:rPr lang="en-US" b="0" i="0" u="none" strike="noStrike" baseline="0" dirty="0">
                <a:latin typeface="Times New Roman" panose="02020603050405020304" pitchFamily="18" charset="0"/>
                <a:cs typeface="Times New Roman" panose="02020603050405020304" pitchFamily="18" charset="0"/>
              </a:rPr>
              <a:t>Railway track crossings </a:t>
            </a:r>
            <a:r>
              <a:rPr lang="en-IN" altLang="en-US" b="0" i="0" u="none" strike="noStrike" baseline="0" dirty="0">
                <a:latin typeface="Times New Roman" panose="02020603050405020304" pitchFamily="18" charset="0"/>
                <a:cs typeface="Times New Roman" panose="02020603050405020304" pitchFamily="18" charset="0"/>
              </a:rPr>
              <a:t>due to</a:t>
            </a:r>
            <a:r>
              <a:rPr lang="en-US" b="0" i="0" u="none" strike="noStrike" baseline="0" dirty="0">
                <a:latin typeface="Times New Roman" panose="02020603050405020304" pitchFamily="18" charset="0"/>
                <a:cs typeface="Times New Roman" panose="02020603050405020304" pitchFamily="18" charset="0"/>
              </a:rPr>
              <a:t> unseen cracks in railway tracks are the leading </a:t>
            </a:r>
            <a:r>
              <a:rPr lang="en-IN" altLang="en-US" b="0" i="0" u="none" strike="noStrike" baseline="0" dirty="0">
                <a:latin typeface="Times New Roman" panose="02020603050405020304" pitchFamily="18" charset="0"/>
                <a:cs typeface="Times New Roman" panose="02020603050405020304" pitchFamily="18" charset="0"/>
              </a:rPr>
              <a:t>to severe</a:t>
            </a:r>
            <a:r>
              <a:rPr lang="en-US" b="0" i="0" u="none" strike="noStrike" baseline="0" dirty="0">
                <a:latin typeface="Times New Roman" panose="02020603050405020304" pitchFamily="18" charset="0"/>
                <a:cs typeface="Times New Roman" panose="02020603050405020304" pitchFamily="18" charset="0"/>
              </a:rPr>
              <a:t> railway accidents. Arduino microcontrollers control and coordinate the activities of this device. </a:t>
            </a:r>
            <a:r>
              <a:rPr lang="en-US" dirty="0">
                <a:latin typeface="Times New Roman" panose="02020603050405020304" pitchFamily="18" charset="0"/>
                <a:cs typeface="Times New Roman" panose="02020603050405020304" pitchFamily="18" charset="0"/>
              </a:rPr>
              <a:t>We use </a:t>
            </a:r>
            <a:r>
              <a:rPr lang="en-US" b="0" i="0" u="none" strike="noStrike" baseline="0" dirty="0">
                <a:latin typeface="Times New Roman" panose="02020603050405020304" pitchFamily="18" charset="0"/>
                <a:cs typeface="Times New Roman" panose="02020603050405020304" pitchFamily="18" charset="0"/>
              </a:rPr>
              <a:t>IR sensors that are used </a:t>
            </a:r>
            <a:r>
              <a:rPr lang="en-IN" altLang="en-US" b="0" i="0" u="none" strike="noStrike" baseline="0" dirty="0">
                <a:latin typeface="Times New Roman" panose="02020603050405020304" pitchFamily="18" charset="0"/>
                <a:cs typeface="Times New Roman" panose="02020603050405020304" pitchFamily="18" charset="0"/>
              </a:rPr>
              <a:t>for crack detection ,we </a:t>
            </a:r>
            <a:r>
              <a:rPr lang="en-US" b="0" i="0" u="none" strike="noStrike" baseline="0" dirty="0">
                <a:latin typeface="Times New Roman" panose="02020603050405020304" pitchFamily="18" charset="0"/>
                <a:cs typeface="Times New Roman" panose="02020603050405020304" pitchFamily="18" charset="0"/>
              </a:rPr>
              <a:t>collect data and use computational analysis to identify </a:t>
            </a:r>
            <a:r>
              <a:rPr lang="en-IN" altLang="en-US" b="0" i="0" u="none" strike="noStrike" baseline="0" dirty="0">
                <a:latin typeface="Times New Roman" panose="02020603050405020304" pitchFamily="18" charset="0"/>
                <a:cs typeface="Times New Roman" panose="02020603050405020304" pitchFamily="18" charset="0"/>
              </a:rPr>
              <a:t>cracks</a:t>
            </a:r>
            <a:r>
              <a:rPr lang="en-US" b="0" i="0" u="none" strike="noStrike" baseline="0" dirty="0">
                <a:latin typeface="Times New Roman" panose="02020603050405020304" pitchFamily="18" charset="0"/>
                <a:cs typeface="Times New Roman" panose="02020603050405020304" pitchFamily="18" charset="0"/>
              </a:rPr>
              <a:t> in railway tracks. The collected data is stored in the cloud using IOT for analysis and aids in the detection of cracks, allowing for the avoidance of catastrophic accidents. Here ultrasonic sensor is used to detect the</a:t>
            </a:r>
            <a:r>
              <a:rPr lang="en-IN" altLang="en-US" b="0" i="0" u="none" strike="noStrike" baseline="0" dirty="0">
                <a:latin typeface="Times New Roman" panose="02020603050405020304" pitchFamily="18" charset="0"/>
                <a:cs typeface="Times New Roman" panose="02020603050405020304" pitchFamily="18" charset="0"/>
              </a:rPr>
              <a:t> obstacles</a:t>
            </a:r>
            <a:r>
              <a:rPr lang="en-US" b="0" i="0" u="none" strike="noStrike" baseline="0" dirty="0">
                <a:latin typeface="Times New Roman" panose="02020603050405020304" pitchFamily="18" charset="0"/>
                <a:cs typeface="Times New Roman" panose="02020603050405020304" pitchFamily="18" charset="0"/>
              </a:rPr>
              <a:t> </a:t>
            </a:r>
            <a:r>
              <a:rPr lang="en-IN" altLang="en-US" b="0" i="0" u="none" strike="noStrike" baseline="0" dirty="0">
                <a:latin typeface="Times New Roman" panose="02020603050405020304" pitchFamily="18" charset="0"/>
                <a:cs typeface="Times New Roman" panose="02020603050405020304" pitchFamily="18" charset="0"/>
              </a:rPr>
              <a:t>on </a:t>
            </a:r>
            <a:r>
              <a:rPr lang="en-US" b="0" i="0" u="none" strike="noStrike" baseline="0" dirty="0">
                <a:latin typeface="Times New Roman" panose="02020603050405020304" pitchFamily="18" charset="0"/>
                <a:cs typeface="Times New Roman" panose="02020603050405020304" pitchFamily="18" charset="0"/>
              </a:rPr>
              <a:t> the railway track by measuring distance from track to sensor, if the distance is greater than the assigned value the microcontroller identifies there is a crack, also it tells the exact location of the crack by </a:t>
            </a:r>
            <a:r>
              <a:rPr lang="en-IN" altLang="en-US" b="0" i="0" u="none" strike="noStrike" baseline="0" dirty="0">
                <a:latin typeface="Times New Roman" panose="02020603050405020304" pitchFamily="18" charset="0"/>
                <a:cs typeface="Times New Roman" panose="02020603050405020304" pitchFamily="18" charset="0"/>
              </a:rPr>
              <a:t>gps</a:t>
            </a:r>
            <a:r>
              <a:rPr lang="en-US" b="0" i="0" u="none" strike="noStrike" baseline="0"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48656" y="400692"/>
            <a:ext cx="5188450" cy="400110"/>
          </a:xfrm>
          <a:prstGeom prst="rect">
            <a:avLst/>
          </a:prstGeom>
          <a:noFill/>
        </p:spPr>
        <p:txBody>
          <a:bodyPr wrap="square" rtlCol="0">
            <a:spAutoFit/>
          </a:bodyPr>
          <a:lstStyle/>
          <a:p>
            <a:pPr algn="ctr"/>
            <a:r>
              <a:rPr lang="en-US" sz="2000" b="1" dirty="0">
                <a:solidFill>
                  <a:srgbClr val="1581AA"/>
                </a:solidFill>
                <a:latin typeface="Calibri" panose="020F0502020204030204"/>
                <a:ea typeface="Calibri" panose="020F0502020204030204"/>
                <a:cs typeface="Calibri" panose="020F0502020204030204"/>
                <a:sym typeface="Calibri" panose="020F0502020204030204"/>
              </a:rPr>
              <a:t>             INTRODUCTION</a:t>
            </a:r>
            <a:endParaRPr lang="en-US" sz="2000" dirty="0"/>
          </a:p>
        </p:txBody>
      </p:sp>
      <p:sp>
        <p:nvSpPr>
          <p:cNvPr id="4" name="TextBox 3"/>
          <p:cNvSpPr txBox="1"/>
          <p:nvPr/>
        </p:nvSpPr>
        <p:spPr>
          <a:xfrm>
            <a:off x="967563" y="800802"/>
            <a:ext cx="6921795" cy="2315827"/>
          </a:xfrm>
          <a:prstGeom prst="rect">
            <a:avLst/>
          </a:prstGeom>
          <a:noFill/>
        </p:spPr>
        <p:txBody>
          <a:bodyPr wrap="square">
            <a:spAutoFit/>
          </a:bodyPr>
          <a:lstStyle/>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India, which has the world's fourth-largest railway community, relies heavily on the railway as a </a:t>
            </a:r>
            <a:r>
              <a:rPr lang="en-IN" b="0" i="0" u="none" strike="noStrike" baseline="0" dirty="0">
                <a:latin typeface="Times New Roman" panose="02020603050405020304" pitchFamily="18" charset="0"/>
                <a:cs typeface="Times New Roman" panose="02020603050405020304" pitchFamily="18" charset="0"/>
              </a:rPr>
              <a:t>mode of transportation. </a:t>
            </a:r>
            <a:r>
              <a:rPr lang="en-US" b="0" i="0" u="none" strike="noStrike" baseline="0" dirty="0">
                <a:latin typeface="Times New Roman" panose="02020603050405020304" pitchFamily="18" charset="0"/>
                <a:cs typeface="Times New Roman" panose="02020603050405020304" pitchFamily="18" charset="0"/>
              </a:rPr>
              <a:t>Seasonal changes cause the tracks to contract and expand.</a:t>
            </a:r>
            <a:r>
              <a:rPr lang="en-US" b="0" i="0" u="none" strike="noStrike" baseline="0" dirty="0">
                <a:solidFill>
                  <a:srgbClr val="000000"/>
                </a:solidFill>
                <a:latin typeface="Times New Roman" panose="02020603050405020304" pitchFamily="18" charset="0"/>
                <a:cs typeface="Times New Roman" panose="02020603050405020304" pitchFamily="18" charset="0"/>
              </a:rPr>
              <a:t> The main issue that is faced here is that there is no reliable and affordable equipment to diagnose train track issues and the lack of proper maintenance. This project will help improve the rail industry and many people will be benefited from this. It is the most economical and efficient solution provided to achieve good results of railways of our country to minimize the stats of accidents caused.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4</a:t>
            </a:r>
            <a:endParaRPr lang="en-US"/>
          </a:p>
        </p:txBody>
      </p:sp>
      <p:sp>
        <p:nvSpPr>
          <p:cNvPr id="81" name="Google Shape;81;p4"/>
          <p:cNvSpPr txBox="1">
            <a:spLocks noGrp="1"/>
          </p:cNvSpPr>
          <p:nvPr>
            <p:ph type="body" idx="1"/>
          </p:nvPr>
        </p:nvSpPr>
        <p:spPr>
          <a:xfrm>
            <a:off x="1096963" y="1"/>
            <a:ext cx="6908947" cy="64113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1581AA"/>
              </a:buClr>
              <a:buSzPts val="3600"/>
              <a:buFont typeface="Calibri" panose="020F0502020204030204"/>
              <a:buNone/>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Literature Survey</a:t>
            </a:r>
            <a:endParaRPr sz="1100" b="1" dirty="0"/>
          </a:p>
        </p:txBody>
      </p:sp>
      <p:sp>
        <p:nvSpPr>
          <p:cNvPr id="4" name="Text Box 3"/>
          <p:cNvSpPr txBox="1"/>
          <p:nvPr/>
        </p:nvSpPr>
        <p:spPr>
          <a:xfrm>
            <a:off x="1029335" y="572770"/>
            <a:ext cx="6892925" cy="770255"/>
          </a:xfrm>
          <a:prstGeom prst="rect">
            <a:avLst/>
          </a:prstGeom>
          <a:noFill/>
        </p:spPr>
        <p:txBody>
          <a:bodyPr wrap="square" rtlCol="0">
            <a:noAutofit/>
          </a:bodyPr>
          <a:p>
            <a:r>
              <a:rPr lang="en-IN" b="1" dirty="0">
                <a:latin typeface="Times New Roman" panose="02020603050405020304" pitchFamily="18" charset="0"/>
                <a:cs typeface="Times New Roman" panose="02020603050405020304" pitchFamily="18" charset="0"/>
                <a:sym typeface="+mn-ea"/>
              </a:rPr>
              <a:t>1] INTELLIGENT RAILWAY TRACK CRACK AND OBSTACLE DETECTION USING IOT[2022]</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sym typeface="+mn-ea"/>
              </a:rPr>
              <a:t>AUTHORS : Bhoomika BN*1, Harsha V*2, Sneha S*3, Tejaswini CS*4, Mallamma CG*5</a:t>
            </a:r>
            <a:endParaRPr lang="en-IN" b="1" dirty="0">
              <a:latin typeface="Times New Roman" panose="02020603050405020304" pitchFamily="18" charset="0"/>
              <a:cs typeface="Times New Roman" panose="02020603050405020304" pitchFamily="18" charset="0"/>
              <a:sym typeface="+mn-ea"/>
            </a:endParaRPr>
          </a:p>
          <a:p>
            <a:r>
              <a:rPr lang="en-IN" b="1" dirty="0">
                <a:latin typeface="Times New Roman" panose="02020603050405020304" pitchFamily="18" charset="0"/>
                <a:cs typeface="Times New Roman" panose="02020603050405020304" pitchFamily="18" charset="0"/>
                <a:sym typeface="+mn-ea"/>
              </a:rPr>
              <a:t>METHODOLOGY:</a:t>
            </a:r>
            <a:r>
              <a:rPr lang="en-IN" dirty="0">
                <a:latin typeface="Times New Roman" panose="02020603050405020304" pitchFamily="18" charset="0"/>
                <a:cs typeface="Times New Roman" panose="02020603050405020304" pitchFamily="18" charset="0"/>
                <a:sym typeface="+mn-ea"/>
              </a:rPr>
              <a:t>Railway is one of the most significant transport modes of our country. However, the railway tracks in our </a:t>
            </a:r>
            <a:r>
              <a:rPr lang="en-IN" dirty="0">
                <a:latin typeface="Times New Roman" panose="02020603050405020304" pitchFamily="18" charset="0"/>
                <a:cs typeface="Times New Roman" panose="02020603050405020304" pitchFamily="18" charset="0"/>
                <a:sym typeface="+mn-ea"/>
              </a:rPr>
              <a:t>country are very vulnerable, and as a result, a large number of accidents occur every year, leading to the loss of many lives. These incidents have motivated us to take necessary steps to protect people's lives. Currently, there is no technology available that can detect cracks on the tracks, so we are exploring ways to do so. In addition, natural disasters can throw objects on the railway track, which may not be quickly removed, especially in remote areas. Therefore, we propose developing a system that can detect obstacles or barriers and alert the </a:t>
            </a:r>
            <a:endParaRPr lang="en-IN" dirty="0">
              <a:latin typeface="Times New Roman" panose="02020603050405020304" pitchFamily="18" charset="0"/>
              <a:cs typeface="Times New Roman" panose="02020603050405020304" pitchFamily="18" charset="0"/>
              <a:sym typeface="+mn-ea"/>
            </a:endParaRPr>
          </a:p>
          <a:p>
            <a:r>
              <a:rPr lang="en-IN" dirty="0">
                <a:latin typeface="Times New Roman" panose="02020603050405020304" pitchFamily="18" charset="0"/>
                <a:cs typeface="Times New Roman" panose="02020603050405020304" pitchFamily="18" charset="0"/>
                <a:sym typeface="+mn-ea"/>
              </a:rPr>
              <a:t>control room so that they can take appropriate steps to avoid accidents.</a:t>
            </a:r>
            <a:endParaRPr lang="en-IN" b="1" dirty="0">
              <a:latin typeface="Times New Roman" panose="02020603050405020304" pitchFamily="18" charset="0"/>
              <a:cs typeface="Times New Roman" panose="02020603050405020304" pitchFamily="18" charset="0"/>
              <a:sym typeface="+mn-ea"/>
            </a:endParaRPr>
          </a:p>
          <a:p>
            <a:endParaRPr lang="en-IN" b="1" dirty="0">
              <a:latin typeface="Times New Roman" panose="02020603050405020304" pitchFamily="18" charset="0"/>
              <a:cs typeface="Times New Roman" panose="02020603050405020304" pitchFamily="18" charset="0"/>
              <a:sym typeface="+mn-ea"/>
            </a:endParaRPr>
          </a:p>
          <a:p>
            <a:r>
              <a:rPr lang="en-IN" b="1" dirty="0">
                <a:latin typeface="Times New Roman" panose="02020603050405020304" pitchFamily="18" charset="0"/>
                <a:cs typeface="Times New Roman" panose="02020603050405020304" pitchFamily="18" charset="0"/>
                <a:sym typeface="+mn-ea"/>
              </a:rPr>
              <a:t>ADVANTAGE :</a:t>
            </a:r>
            <a:r>
              <a:rPr lang="en-IN" dirty="0">
                <a:latin typeface="Times New Roman" panose="02020603050405020304" pitchFamily="18" charset="0"/>
                <a:cs typeface="Times New Roman" panose="02020603050405020304" pitchFamily="18" charset="0"/>
                <a:sym typeface="+mn-ea"/>
              </a:rPr>
              <a:t>Early detection of defects,Predictive maintenance,Automation</a:t>
            </a:r>
            <a:endParaRPr lang="en-IN" dirty="0">
              <a:latin typeface="Times New Roman" panose="02020603050405020304" pitchFamily="18" charset="0"/>
              <a:cs typeface="Times New Roman" panose="02020603050405020304" pitchFamily="18" charset="0"/>
              <a:sym typeface="+mn-ea"/>
            </a:endParaRPr>
          </a:p>
          <a:p>
            <a:endParaRPr lang="en-IN" b="1" dirty="0">
              <a:latin typeface="Times New Roman" panose="02020603050405020304" pitchFamily="18" charset="0"/>
              <a:cs typeface="Times New Roman" panose="02020603050405020304" pitchFamily="18" charset="0"/>
              <a:sym typeface="+mn-ea"/>
            </a:endParaRPr>
          </a:p>
          <a:p>
            <a:r>
              <a:rPr lang="en-IN" b="1" dirty="0">
                <a:latin typeface="Times New Roman" panose="02020603050405020304" pitchFamily="18" charset="0"/>
                <a:cs typeface="Times New Roman" panose="02020603050405020304" pitchFamily="18" charset="0"/>
                <a:sym typeface="+mn-ea"/>
              </a:rPr>
              <a:t>LIMITATION:</a:t>
            </a:r>
            <a:r>
              <a:rPr lang="en-IN" dirty="0">
                <a:latin typeface="Times New Roman" panose="02020603050405020304" pitchFamily="18" charset="0"/>
                <a:cs typeface="Times New Roman" panose="02020603050405020304" pitchFamily="18" charset="0"/>
                <a:sym typeface="+mn-ea"/>
              </a:rPr>
              <a:t>Long distance of the sensor from the tracks can make the echo weak and lead to noisy readings.</a:t>
            </a:r>
            <a:endParaRPr lang="en-IN" b="1" dirty="0">
              <a:latin typeface="Times New Roman" panose="02020603050405020304" pitchFamily="18" charset="0"/>
              <a:cs typeface="Times New Roman" panose="02020603050405020304" pitchFamily="18" charset="0"/>
              <a:sym typeface="+mn-ea"/>
            </a:endParaRPr>
          </a:p>
          <a:p>
            <a:endParaRPr lang="en-I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82980" y="486410"/>
            <a:ext cx="6780530" cy="4285615"/>
          </a:xfrm>
          <a:prstGeom prst="rect">
            <a:avLst/>
          </a:prstGeom>
          <a:noFill/>
        </p:spPr>
        <p:txBody>
          <a:bodyPr wrap="square" rtlCol="0">
            <a:noAutofit/>
          </a:bodyPr>
          <a:p>
            <a:r>
              <a:rPr lang="en-IN" altLang="en-US" b="1" dirty="0">
                <a:latin typeface="Times New Roman" panose="02020603050405020304" pitchFamily="18" charset="0"/>
                <a:cs typeface="Times New Roman" panose="02020603050405020304" pitchFamily="18" charset="0"/>
                <a:sym typeface="+mn-ea"/>
              </a:rPr>
              <a:t>2] </a:t>
            </a:r>
            <a:r>
              <a:rPr lang="en-US" b="1" dirty="0">
                <a:latin typeface="Times New Roman" panose="02020603050405020304" pitchFamily="18" charset="0"/>
                <a:cs typeface="Times New Roman" panose="02020603050405020304" pitchFamily="18" charset="0"/>
                <a:sym typeface="+mn-ea"/>
              </a:rPr>
              <a:t>IOT BASED RAILWAY TRACK CRACK DETECTION AND ALERT SYSTEM</a:t>
            </a:r>
            <a:endParaRPr lang="en-US" b="1" dirty="0">
              <a:latin typeface="Times New Roman" panose="02020603050405020304" pitchFamily="18" charset="0"/>
              <a:cs typeface="Times New Roman" panose="02020603050405020304" pitchFamily="18" charset="0"/>
              <a:sym typeface="+mn-ea"/>
            </a:endParaRPr>
          </a:p>
          <a:p>
            <a:r>
              <a:rPr lang="en-IN" altLang="en-US"/>
              <a:t>[2023]</a:t>
            </a:r>
            <a:endParaRPr lang="en-IN" altLang="en-US"/>
          </a:p>
          <a:p>
            <a:r>
              <a:rPr lang="en-US" b="1" dirty="0">
                <a:latin typeface="Times New Roman" panose="02020603050405020304" pitchFamily="18" charset="0"/>
                <a:cs typeface="Times New Roman" panose="02020603050405020304" pitchFamily="18" charset="0"/>
                <a:sym typeface="+mn-ea"/>
              </a:rPr>
              <a:t>AUTHORS :T. Dedeepya,A. Kalyani,D. Niranjan Reddy,Ms. S. Sushma</a:t>
            </a:r>
            <a:endParaRPr lang="en-US" b="1" dirty="0">
              <a:latin typeface="Times New Roman" panose="02020603050405020304" pitchFamily="18" charset="0"/>
              <a:cs typeface="Times New Roman" panose="02020603050405020304" pitchFamily="18" charset="0"/>
              <a:sym typeface="+mn-ea"/>
            </a:endParaRPr>
          </a:p>
          <a:p>
            <a:endParaRPr lang="en-US" b="1" dirty="0">
              <a:latin typeface="Times New Roman" panose="02020603050405020304" pitchFamily="18" charset="0"/>
              <a:cs typeface="Times New Roman" panose="02020603050405020304" pitchFamily="18" charset="0"/>
              <a:sym typeface="+mn-ea"/>
            </a:endParaRPr>
          </a:p>
          <a:p>
            <a:r>
              <a:rPr lang="en-US" b="1" dirty="0">
                <a:latin typeface="Times New Roman" panose="02020603050405020304" pitchFamily="18" charset="0"/>
                <a:cs typeface="Times New Roman" panose="02020603050405020304" pitchFamily="18" charset="0"/>
                <a:sym typeface="+mn-ea"/>
              </a:rPr>
              <a:t>METHODOLOGY:</a:t>
            </a:r>
            <a:r>
              <a:rPr lang="en-US" dirty="0">
                <a:latin typeface="Times New Roman" panose="02020603050405020304" pitchFamily="18" charset="0"/>
                <a:cs typeface="Times New Roman" panose="02020603050405020304" pitchFamily="18" charset="0"/>
                <a:sym typeface="+mn-ea"/>
              </a:rPr>
              <a:t>The proposed system outperformed the current system limitations for identifying defective railroad </a:t>
            </a:r>
            <a:r>
              <a:rPr lang="en-US" dirty="0">
                <a:latin typeface="Times New Roman" panose="02020603050405020304" pitchFamily="18" charset="0"/>
                <a:cs typeface="Times New Roman" panose="02020603050405020304" pitchFamily="18" charset="0"/>
                <a:sym typeface="+mn-ea"/>
              </a:rPr>
              <a:t>tracks. In this proposed system, we employ an Arduino UNO board. Arduino is a built-in open_x0002_source programming environment that dramatically simplifies coding. The suggested system comprises an infrared sensor designed to detect fractures. The motor controller L293D assists in the powering of the DC motors. The Arduino controller is largely used to manage sensor outputs and to </a:t>
            </a:r>
            <a:endParaRPr lang="en-US" dirty="0">
              <a:latin typeface="Times New Roman" panose="02020603050405020304" pitchFamily="18" charset="0"/>
              <a:cs typeface="Times New Roman" panose="02020603050405020304" pitchFamily="18" charset="0"/>
              <a:sym typeface="+mn-ea"/>
            </a:endParaRPr>
          </a:p>
          <a:p>
            <a:r>
              <a:rPr lang="en-US" dirty="0">
                <a:latin typeface="Times New Roman" panose="02020603050405020304" pitchFamily="18" charset="0"/>
                <a:cs typeface="Times New Roman" panose="02020603050405020304" pitchFamily="18" charset="0"/>
                <a:sym typeface="+mn-ea"/>
              </a:rPr>
              <a:t>communicatedata. The GPS module is utilized to pinpoint the precise latitude and longitudinal direction of the erroneous track</a:t>
            </a:r>
            <a:r>
              <a:rPr lang="en-IN" altLang="en-US" dirty="0">
                <a:latin typeface="Times New Roman" panose="02020603050405020304" pitchFamily="18" charset="0"/>
                <a:cs typeface="Times New Roman" panose="02020603050405020304" pitchFamily="18" charset="0"/>
                <a:sym typeface="+mn-ea"/>
              </a:rPr>
              <a:t>,using of respberry pi module and camera module.</a:t>
            </a:r>
            <a:endParaRPr lang="en-IN" altLang="en-US" dirty="0">
              <a:latin typeface="Times New Roman" panose="02020603050405020304" pitchFamily="18" charset="0"/>
              <a:cs typeface="Times New Roman" panose="02020603050405020304" pitchFamily="18" charset="0"/>
              <a:sym typeface="+mn-ea"/>
            </a:endParaRPr>
          </a:p>
          <a:p>
            <a:endParaRPr lang="en-IN" altLang="en-US" b="1" dirty="0">
              <a:latin typeface="Times New Roman" panose="02020603050405020304" pitchFamily="18" charset="0"/>
              <a:cs typeface="Times New Roman" panose="02020603050405020304" pitchFamily="18" charset="0"/>
              <a:sym typeface="+mn-ea"/>
            </a:endParaRPr>
          </a:p>
          <a:p>
            <a:r>
              <a:rPr lang="en-US" b="1" dirty="0">
                <a:latin typeface="Times New Roman" panose="02020603050405020304" pitchFamily="18" charset="0"/>
                <a:cs typeface="Times New Roman" panose="02020603050405020304" pitchFamily="18" charset="0"/>
                <a:sym typeface="+mn-ea"/>
              </a:rPr>
              <a:t>ADVANTAGE :</a:t>
            </a:r>
            <a:r>
              <a:rPr lang="en-US" dirty="0">
                <a:latin typeface="Times New Roman" panose="02020603050405020304" pitchFamily="18" charset="0"/>
                <a:cs typeface="Times New Roman" panose="02020603050405020304" pitchFamily="18" charset="0"/>
                <a:sym typeface="+mn-ea"/>
              </a:rPr>
              <a:t>All crack locations detected by the system are saved inthe cloud.</a:t>
            </a:r>
            <a:endParaRPr lang="en-US" dirty="0">
              <a:latin typeface="Times New Roman" panose="02020603050405020304" pitchFamily="18" charset="0"/>
              <a:cs typeface="Times New Roman" panose="02020603050405020304" pitchFamily="18" charset="0"/>
              <a:sym typeface="+mn-ea"/>
            </a:endParaRPr>
          </a:p>
          <a:p>
            <a:endParaRPr lang="en-US" b="1" dirty="0">
              <a:latin typeface="Times New Roman" panose="02020603050405020304" pitchFamily="18" charset="0"/>
              <a:cs typeface="Times New Roman" panose="02020603050405020304" pitchFamily="18" charset="0"/>
              <a:sym typeface="+mn-ea"/>
            </a:endParaRPr>
          </a:p>
          <a:p>
            <a:r>
              <a:rPr lang="en-US" b="1" dirty="0">
                <a:latin typeface="Times New Roman" panose="02020603050405020304" pitchFamily="18" charset="0"/>
                <a:cs typeface="Times New Roman" panose="02020603050405020304" pitchFamily="18" charset="0"/>
                <a:sym typeface="+mn-ea"/>
              </a:rPr>
              <a:t>LIMITATION :</a:t>
            </a:r>
            <a:r>
              <a:rPr lang="en-US" dirty="0">
                <a:latin typeface="Times New Roman" panose="02020603050405020304" pitchFamily="18" charset="0"/>
                <a:cs typeface="Times New Roman" panose="02020603050405020304" pitchFamily="18" charset="0"/>
                <a:sym typeface="+mn-ea"/>
              </a:rPr>
              <a:t>This method can’t detect very fine fractures because to detect an abnormality the feature </a:t>
            </a:r>
            <a:r>
              <a:rPr lang="en-US" dirty="0">
                <a:latin typeface="Times New Roman" panose="02020603050405020304" pitchFamily="18" charset="0"/>
                <a:cs typeface="Times New Roman" panose="02020603050405020304" pitchFamily="18" charset="0"/>
                <a:sym typeface="+mn-ea"/>
              </a:rPr>
              <a:t>should be larger than the wavelength of the sound waves so that it can reflect the sound waves</a:t>
            </a:r>
            <a:r>
              <a:rPr lang="en-IN" altLang="en-US" dirty="0">
                <a:latin typeface="Times New Roman" panose="02020603050405020304" pitchFamily="18" charset="0"/>
                <a:cs typeface="Times New Roman" panose="02020603050405020304" pitchFamily="18" charset="0"/>
                <a:sym typeface="+mn-ea"/>
              </a:rPr>
              <a:t>,clear photo is not able to captured</a:t>
            </a:r>
            <a:endParaRPr lang="en-IN" altLang="en-US"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5150" y="640715"/>
            <a:ext cx="7302500" cy="3538220"/>
          </a:xfrm>
          <a:prstGeom prst="rect">
            <a:avLst/>
          </a:prstGeom>
          <a:noFill/>
        </p:spPr>
        <p:txBody>
          <a:bodyPr wrap="square" rtlCol="0">
            <a:spAutoFit/>
          </a:bodyPr>
          <a:p>
            <a:r>
              <a:rPr lang="en-IN" altLang="en-US" b="1" dirty="0">
                <a:latin typeface="Times New Roman" panose="02020603050405020304" pitchFamily="18" charset="0"/>
                <a:cs typeface="Times New Roman" panose="02020603050405020304" pitchFamily="18" charset="0"/>
                <a:sym typeface="+mn-ea"/>
              </a:rPr>
              <a:t>3] Railway Track Crack Detection Using GPS and GSM </a:t>
            </a:r>
            <a:r>
              <a:rPr lang="en-IN" altLang="en-US" b="1"/>
              <a:t>[2020]</a:t>
            </a:r>
            <a:endParaRPr lang="en-IN" altLang="en-US" b="1"/>
          </a:p>
          <a:p>
            <a:endParaRPr lang="en-IN" altLang="en-US" b="1"/>
          </a:p>
          <a:p>
            <a:r>
              <a:rPr lang="en-IN" altLang="en-US" b="1"/>
              <a:t>Authors:Nanda Kishore1,Ruhejadhav J2,Aishwarya K S V3,Pallavi</a:t>
            </a:r>
            <a:endParaRPr lang="en-IN" altLang="en-US" b="1"/>
          </a:p>
          <a:p>
            <a:endParaRPr lang="en-IN" altLang="en-US" b="1"/>
          </a:p>
          <a:p>
            <a:r>
              <a:rPr lang="en-IN" b="1" dirty="0">
                <a:latin typeface="Times New Roman" panose="02020603050405020304" pitchFamily="18" charset="0"/>
                <a:cs typeface="Times New Roman" panose="02020603050405020304" pitchFamily="18" charset="0"/>
                <a:sym typeface="+mn-ea"/>
              </a:rPr>
              <a:t>METHODLOGY: </a:t>
            </a:r>
            <a:r>
              <a:rPr lang="en-IN" dirty="0">
                <a:latin typeface="Times New Roman" panose="02020603050405020304" pitchFamily="18" charset="0"/>
                <a:cs typeface="Times New Roman" panose="02020603050405020304" pitchFamily="18" charset="0"/>
                <a:sym typeface="+mn-ea"/>
              </a:rPr>
              <a:t>“Railway track crack detection using IR sensor”, there are two set of IR sensor units fixed to the front side of the vehicle with the microcontroller to check the crack present in the track of the railway line. When the vehicle is switched on, it moves forward along the track. The IR sensors check the condition of the tracks. In normal condition the motor, LDR,GSM,Serial transmission is in initial stage. When the power supplies the microcontroller then it starting the motor in forward direction and sends the messages to the microcontroller using serial transmission.</a:t>
            </a:r>
            <a:endParaRPr lang="en-IN" b="1" dirty="0">
              <a:latin typeface="Times New Roman" panose="02020603050405020304" pitchFamily="18" charset="0"/>
              <a:cs typeface="Times New Roman" panose="02020603050405020304" pitchFamily="18" charset="0"/>
              <a:sym typeface="+mn-ea"/>
            </a:endParaRPr>
          </a:p>
          <a:p>
            <a:r>
              <a:rPr lang="en-IN" altLang="en-US" b="1"/>
              <a:t>Advantage:</a:t>
            </a:r>
            <a:r>
              <a:rPr lang="en-IN" altLang="en-US"/>
              <a:t>Examining the railroad track for cracks, If a gap or crack is detected, gather GPS data.</a:t>
            </a:r>
            <a:endParaRPr lang="en-IN" altLang="en-US"/>
          </a:p>
          <a:p>
            <a:endParaRPr lang="en-IN" altLang="en-US"/>
          </a:p>
          <a:p>
            <a:r>
              <a:rPr lang="en-US" b="1" dirty="0">
                <a:latin typeface="Times New Roman" panose="02020603050405020304" pitchFamily="18" charset="0"/>
                <a:cs typeface="Times New Roman" panose="02020603050405020304" pitchFamily="18" charset="0"/>
                <a:sym typeface="+mn-ea"/>
              </a:rPr>
              <a:t>LIMITATION :</a:t>
            </a:r>
            <a:r>
              <a:rPr lang="en-US" dirty="0">
                <a:latin typeface="Times New Roman" panose="02020603050405020304" pitchFamily="18" charset="0"/>
                <a:cs typeface="Times New Roman" panose="02020603050405020304" pitchFamily="18" charset="0"/>
                <a:sym typeface="+mn-ea"/>
              </a:rPr>
              <a:t>The deployment of IoT sensors may not cover the entire railway network comprehensively</a:t>
            </a:r>
            <a:r>
              <a:rPr lang="en-IN" altLang="en-US" dirty="0">
                <a:latin typeface="Times New Roman" panose="02020603050405020304" pitchFamily="18" charset="0"/>
                <a:cs typeface="Times New Roman" panose="02020603050405020304" pitchFamily="18" charset="0"/>
                <a:sym typeface="+mn-ea"/>
              </a:rPr>
              <a:t>,Due to GSM only cwrtain number of people is able to send the information.</a:t>
            </a:r>
            <a:endParaRPr lang="en-US" dirty="0">
              <a:latin typeface="Times New Roman" panose="02020603050405020304" pitchFamily="18" charset="0"/>
              <a:cs typeface="Times New Roman" panose="02020603050405020304" pitchFamily="18" charset="0"/>
              <a:sym typeface="+mn-ea"/>
            </a:endParaRPr>
          </a:p>
          <a:p>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3-12-08 231030"/>
          <p:cNvPicPr>
            <a:picLocks noChangeAspect="1"/>
          </p:cNvPicPr>
          <p:nvPr/>
        </p:nvPicPr>
        <p:blipFill>
          <a:blip r:embed="rId1"/>
          <a:stretch>
            <a:fillRect/>
          </a:stretch>
        </p:blipFill>
        <p:spPr>
          <a:xfrm>
            <a:off x="2518410" y="819785"/>
            <a:ext cx="3990340" cy="34042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r" rtl="0">
              <a:spcBef>
                <a:spcPts val="0"/>
              </a:spcBef>
              <a:spcAft>
                <a:spcPts val="0"/>
              </a:spcAft>
              <a:buNone/>
            </a:pPr>
            <a:r>
              <a:rPr lang="en-US"/>
              <a:t>1</a:t>
            </a:r>
            <a:endParaRPr lang="en-US" sz="1400" b="0" i="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Rectangle 2"/>
          <p:cNvSpPr/>
          <p:nvPr/>
        </p:nvSpPr>
        <p:spPr>
          <a:xfrm>
            <a:off x="3055776" y="0"/>
            <a:ext cx="3032448" cy="523220"/>
          </a:xfrm>
          <a:prstGeom prst="rect">
            <a:avLst/>
          </a:prstGeom>
        </p:spPr>
        <p:txBody>
          <a:bodyPr wrap="square">
            <a:spAutoFit/>
          </a:bodyPr>
          <a:lstStyle/>
          <a:p>
            <a:pPr lvl="0" algn="ctr">
              <a:buClr>
                <a:srgbClr val="1581AA"/>
              </a:buClr>
              <a:buSzPts val="3600"/>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Summary Table</a:t>
            </a:r>
            <a:endParaRPr lang="en-US" sz="2800" b="1" dirty="0"/>
          </a:p>
        </p:txBody>
      </p:sp>
      <p:graphicFrame>
        <p:nvGraphicFramePr>
          <p:cNvPr id="2" name="Table 1"/>
          <p:cNvGraphicFramePr>
            <a:graphicFrameLocks noGrp="1"/>
          </p:cNvGraphicFramePr>
          <p:nvPr/>
        </p:nvGraphicFramePr>
        <p:xfrm>
          <a:off x="511175" y="523220"/>
          <a:ext cx="7563345" cy="4023360"/>
        </p:xfrm>
        <a:graphic>
          <a:graphicData uri="http://schemas.openxmlformats.org/drawingml/2006/table">
            <a:tbl>
              <a:tblPr firstRow="1" bandRow="1">
                <a:tableStyleId>{5C22544A-7EE6-4342-B048-85BDC9FD1C3A}</a:tableStyleId>
              </a:tblPr>
              <a:tblGrid>
                <a:gridCol w="679672"/>
                <a:gridCol w="1265274"/>
                <a:gridCol w="2371060"/>
                <a:gridCol w="1499191"/>
                <a:gridCol w="1748148"/>
              </a:tblGrid>
              <a:tr h="446339">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203139">
                <a:tc>
                  <a:txBody>
                    <a:bodyPr/>
                    <a:lstStyle/>
                    <a:p>
                      <a:r>
                        <a:rPr lang="en-US" dirty="0"/>
                        <a:t>1</a:t>
                      </a:r>
                      <a:endParaRPr lang="en-IN" dirty="0"/>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IOT SMART ENGINE FOR DETECTING RAILWAY CRACK (2023)</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mn-lt"/>
                          <a:ea typeface="+mn-ea"/>
                          <a:cs typeface="+mn-cs"/>
                          <a:sym typeface="Arial" panose="020B0604020202020204"/>
                        </a:rPr>
                        <a:t>The cracks and other problems with the rails generally go unnoticed due to improper maintenance and irregular manual track line monitoring that is being carried out in the current situation. </a:t>
                      </a:r>
                      <a:endParaRPr lang="en-IN" dirty="0"/>
                    </a:p>
                  </a:txBody>
                  <a:tcPr/>
                </a:tc>
                <a:tc>
                  <a:txBody>
                    <a:bodyPr/>
                    <a:lstStyle/>
                    <a:p>
                      <a:r>
                        <a:rPr lang="en-US" sz="1400" b="0" i="0" u="none" strike="noStrike" cap="none" baseline="0" dirty="0">
                          <a:solidFill>
                            <a:schemeClr val="dk1"/>
                          </a:solidFill>
                          <a:latin typeface="+mn-lt"/>
                          <a:ea typeface="+mn-ea"/>
                          <a:cs typeface="+mn-cs"/>
                          <a:sym typeface="Arial" panose="020B0604020202020204"/>
                        </a:rPr>
                        <a:t>This system is mainly concerned in identifying the cracks in railway tracks and helps to prevent the accidents without manual power. </a:t>
                      </a:r>
                      <a:endParaRPr lang="en-IN" dirty="0"/>
                    </a:p>
                  </a:txBody>
                  <a:tcPr/>
                </a:tc>
                <a:tc>
                  <a:txBody>
                    <a:bodyPr/>
                    <a:lstStyle/>
                    <a:p>
                      <a:r>
                        <a:rPr lang="en-US" sz="1400" b="0" i="0" u="none" strike="noStrike" cap="none" baseline="0" dirty="0">
                          <a:solidFill>
                            <a:schemeClr val="dk1"/>
                          </a:solidFill>
                          <a:latin typeface="+mn-lt"/>
                          <a:ea typeface="+mn-ea"/>
                          <a:cs typeface="+mn-cs"/>
                          <a:sym typeface="Arial" panose="020B0604020202020204"/>
                        </a:rPr>
                        <a:t>The robot starts moving and detecting the cracks by using 2 IR sensors then the robot automatically stops and send the location where the crack is detected through GPS to the server by using IOT. By clicking on the location we can track the location through GPS module. </a:t>
                      </a:r>
                      <a:endParaRPr lang="en-IN"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935664" y="223283"/>
          <a:ext cx="7102549" cy="3870251"/>
        </p:xfrm>
        <a:graphic>
          <a:graphicData uri="http://schemas.openxmlformats.org/drawingml/2006/table">
            <a:tbl>
              <a:tblPr firstRow="1" bandRow="1">
                <a:tableStyleId>{5C22544A-7EE6-4342-B048-85BDC9FD1C3A}</a:tableStyleId>
              </a:tblPr>
              <a:tblGrid>
                <a:gridCol w="887819"/>
                <a:gridCol w="1697178"/>
                <a:gridCol w="1536134"/>
                <a:gridCol w="1461804"/>
                <a:gridCol w="1519614"/>
              </a:tblGrid>
              <a:tr h="592741">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277510">
                <a:tc>
                  <a:txBody>
                    <a:bodyPr/>
                    <a:lstStyle/>
                    <a:p>
                      <a:r>
                        <a:rPr lang="en-US" dirty="0"/>
                        <a:t>2</a:t>
                      </a:r>
                      <a:endParaRPr lang="en-IN" dirty="0"/>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 Novel SMS-Based Crack Detection System(2023) </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problem specified faced here is that there is no reliable and affordable equipment to diagnose train track issues and the lack of proper maintenance.. </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Authors thought of making the current proposed model that speaks of a proposed test train design for detecting obstacles and cracks in the tracks. </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current system the mean absolute percentage error generated by the sensor is less than 0.4% making it very efficient for surface and sub-surface crack detection. </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98452" y="265814"/>
          <a:ext cx="7347095" cy="4210206"/>
        </p:xfrm>
        <a:graphic>
          <a:graphicData uri="http://schemas.openxmlformats.org/drawingml/2006/table">
            <a:tbl>
              <a:tblPr firstRow="1" bandRow="1">
                <a:tableStyleId>{5C22544A-7EE6-4342-B048-85BDC9FD1C3A}</a:tableStyleId>
              </a:tblPr>
              <a:tblGrid>
                <a:gridCol w="712382"/>
                <a:gridCol w="1541721"/>
                <a:gridCol w="2073348"/>
                <a:gridCol w="1550225"/>
                <a:gridCol w="1469419"/>
              </a:tblGrid>
              <a:tr h="486549">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692046">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Development of location tracking system via short message service (SMS) </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One of the devices used is GSM / GPRS SIM is designed on a tracking system using SMS that runs on Android. Android-based devices have become a mobile operating system that is very popular in recent years. But if the android is off it cannot be functioned</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Arduino performs some  task that the author examines the tracking device system that can be tracked via cell phone using SMS with specific codes that can be read by the device itself. </a:t>
                      </a:r>
                      <a:endParaRPr lang="en-IN"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This tool is tested based on messages sent to cell phones, messages with Google Maps addresses when GPS does not receive signals, messages when GPS receives signals and messages when the tracking device is reset via SMS. </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245781" y="358995"/>
          <a:ext cx="6652437" cy="3663131"/>
        </p:xfrm>
        <a:graphic>
          <a:graphicData uri="http://schemas.openxmlformats.org/drawingml/2006/table">
            <a:tbl>
              <a:tblPr firstRow="1" bandRow="1">
                <a:tableStyleId>{5C22544A-7EE6-4342-B048-85BDC9FD1C3A}</a:tableStyleId>
              </a:tblPr>
              <a:tblGrid>
                <a:gridCol w="400493"/>
                <a:gridCol w="1456660"/>
                <a:gridCol w="1180214"/>
                <a:gridCol w="1392866"/>
                <a:gridCol w="2222204"/>
              </a:tblGrid>
              <a:tr h="461978">
                <a:tc>
                  <a:txBody>
                    <a:bodyPr/>
                    <a:lstStyle/>
                    <a:p>
                      <a:pPr algn="just"/>
                      <a:r>
                        <a:rPr lang="en-US" dirty="0"/>
                        <a:t>Sl.no</a:t>
                      </a:r>
                      <a:endParaRPr lang="en-IN" dirty="0"/>
                    </a:p>
                  </a:txBody>
                  <a:tcPr/>
                </a:tc>
                <a:tc>
                  <a:txBody>
                    <a:bodyPr/>
                    <a:lstStyle/>
                    <a:p>
                      <a:pPr algn="just"/>
                      <a:r>
                        <a:rPr lang="en-US" dirty="0"/>
                        <a:t>Research Paper title</a:t>
                      </a:r>
                      <a:endParaRPr lang="en-IN" dirty="0"/>
                    </a:p>
                  </a:txBody>
                  <a:tcPr/>
                </a:tc>
                <a:tc>
                  <a:txBody>
                    <a:bodyPr/>
                    <a:lstStyle/>
                    <a:p>
                      <a:pPr algn="just"/>
                      <a:r>
                        <a:rPr lang="en-US" dirty="0"/>
                        <a:t>Problem specified</a:t>
                      </a:r>
                      <a:endParaRPr lang="en-IN" dirty="0"/>
                    </a:p>
                  </a:txBody>
                  <a:tcPr/>
                </a:tc>
                <a:tc>
                  <a:txBody>
                    <a:bodyPr/>
                    <a:lstStyle/>
                    <a:p>
                      <a:pPr algn="just"/>
                      <a:r>
                        <a:rPr lang="en-US" dirty="0"/>
                        <a:t>Authors Access</a:t>
                      </a:r>
                      <a:endParaRPr lang="en-IN" dirty="0"/>
                    </a:p>
                  </a:txBody>
                  <a:tcPr/>
                </a:tc>
                <a:tc>
                  <a:txBody>
                    <a:bodyPr/>
                    <a:lstStyle/>
                    <a:p>
                      <a:pPr algn="just"/>
                      <a:r>
                        <a:rPr lang="en-US" dirty="0"/>
                        <a:t>Results</a:t>
                      </a:r>
                      <a:endParaRPr lang="en-IN" dirty="0"/>
                    </a:p>
                  </a:txBody>
                  <a:tcPr/>
                </a:tc>
              </a:tr>
              <a:tr h="3144971">
                <a:tc>
                  <a:txBody>
                    <a:bodyPr/>
                    <a:lstStyle/>
                    <a:p>
                      <a:pPr algn="just"/>
                      <a:r>
                        <a:rPr lang="en-US" dirty="0"/>
                        <a:t>4</a:t>
                      </a:r>
                      <a:endParaRPr lang="en-IN" dirty="0"/>
                    </a:p>
                  </a:txBody>
                  <a:tcPr/>
                </a:tc>
                <a:tc>
                  <a:txBody>
                    <a:bodyPr/>
                    <a:lstStyle/>
                    <a:p>
                      <a:pPr algn="just"/>
                      <a:r>
                        <a:rPr lang="en-US" sz="1400" b="0" i="0" u="none" strike="noStrike" cap="none" baseline="0" dirty="0" err="1">
                          <a:solidFill>
                            <a:schemeClr val="dk1"/>
                          </a:solidFill>
                          <a:latin typeface="Times New Roman" panose="02020603050405020304" pitchFamily="18" charset="0"/>
                          <a:ea typeface="+mn-ea"/>
                          <a:cs typeface="Times New Roman" panose="02020603050405020304" pitchFamily="18" charset="0"/>
                          <a:sym typeface="Arial" panose="020B0604020202020204"/>
                        </a:rPr>
                        <a:t>Iot</a:t>
                      </a:r>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 Based Sensor Network for Crack &amp; Bend</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Monitoring in Railway Track(2022)</a:t>
                      </a:r>
                      <a:endParaRPr lang="en-IN" b="0"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there is no efficient and cost-effective technology to detect problems in the rail tracks and the lack of proper</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system performs two </a:t>
                      </a:r>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main functions. The first one is detecting the crack on the railway track by using the sensor and the second one is detecting</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object by using IR sensor</a:t>
                      </a:r>
                      <a:r>
                        <a:rPr lang="en-US" sz="1400" b="1" i="1" u="none" strike="noStrike" cap="none" baseline="0" dirty="0">
                          <a:solidFill>
                            <a:schemeClr val="dk1"/>
                          </a:solidFill>
                          <a:latin typeface="+mn-lt"/>
                          <a:ea typeface="+mn-ea"/>
                          <a:cs typeface="+mn-cs"/>
                          <a:sym typeface="Arial" panose="020B0604020202020204"/>
                        </a:rPr>
                        <a:t>.</a:t>
                      </a:r>
                      <a:endParaRPr lang="en-IN" sz="1400" b="1" i="0" u="none" strike="noStrike" cap="none" baseline="0" dirty="0">
                        <a:solidFill>
                          <a:schemeClr val="dk1"/>
                        </a:solidFill>
                        <a:latin typeface="+mn-lt"/>
                        <a:ea typeface="+mn-ea"/>
                        <a:cs typeface="+mn-cs"/>
                        <a:sym typeface="Arial" panose="020B0604020202020204"/>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This proposed system not only overcomes the problems but also improves accuracy on crack detection in rails and most economical solution provided in order to achieve good results in railways. Also reduces the stats of accidents caused</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96163" y="542260"/>
          <a:ext cx="6751674" cy="3657600"/>
        </p:xfrm>
        <a:graphic>
          <a:graphicData uri="http://schemas.openxmlformats.org/drawingml/2006/table">
            <a:tbl>
              <a:tblPr firstRow="1" bandRow="1">
                <a:tableStyleId>{5C22544A-7EE6-4342-B048-85BDC9FD1C3A}</a:tableStyleId>
              </a:tblPr>
              <a:tblGrid>
                <a:gridCol w="726197"/>
                <a:gridCol w="1672218"/>
                <a:gridCol w="1652589"/>
                <a:gridCol w="1350335"/>
                <a:gridCol w="1350335"/>
              </a:tblGrid>
              <a:tr h="560173">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097427">
                <a:tc>
                  <a:txBody>
                    <a:bodyPr/>
                    <a:lstStyle/>
                    <a:p>
                      <a:r>
                        <a:rPr lang="en-US" dirty="0"/>
                        <a:t>5</a:t>
                      </a:r>
                      <a:endParaRPr lang="en-IN" dirty="0"/>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 Review On IOT Based Railway Track Crack Detection with Live Video Streaming (2019)</a:t>
                      </a:r>
                      <a:endParaRPr lang="en-IN" b="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cap="none" baseline="0" dirty="0">
                          <a:solidFill>
                            <a:schemeClr val="dk1"/>
                          </a:solidFill>
                          <a:latin typeface="+mn-lt"/>
                          <a:ea typeface="+mn-ea"/>
                          <a:cs typeface="+mn-cs"/>
                          <a:sym typeface="Arial" panose="020B0604020202020204"/>
                        </a:rPr>
                        <a:t> problems with the rails unnoticed due to improper maintenance and irregular manual track line monitoring that is being carried out in the current situation. </a:t>
                      </a:r>
                      <a:endParaRPr lang="en-IN" dirty="0"/>
                    </a:p>
                  </a:txBody>
                  <a:tcPr/>
                </a:tc>
                <a:tc>
                  <a:txBody>
                    <a:bodyPr/>
                    <a:lstStyle/>
                    <a:p>
                      <a:r>
                        <a:rPr lang="en-US" sz="1400" b="0" i="0" u="none" strike="noStrike" cap="none" baseline="0" dirty="0">
                          <a:solidFill>
                            <a:schemeClr val="dk1"/>
                          </a:solidFill>
                          <a:latin typeface="+mn-lt"/>
                          <a:ea typeface="+mn-ea"/>
                          <a:cs typeface="+mn-cs"/>
                          <a:sym typeface="Arial" panose="020B0604020202020204"/>
                        </a:rPr>
                        <a:t> It is mainly concerned in identifying the cracks in railway tracks and helps to prevent the accidents without manual power. </a:t>
                      </a:r>
                      <a:endParaRPr lang="en-IN" dirty="0"/>
                    </a:p>
                  </a:txBody>
                  <a:tcPr/>
                </a:tc>
                <a:tc>
                  <a:txBody>
                    <a:bodyPr/>
                    <a:lstStyle/>
                    <a:p>
                      <a:r>
                        <a:rPr lang="en-US" sz="1400" b="0" i="0" u="none" strike="noStrike" cap="none" baseline="0" dirty="0">
                          <a:solidFill>
                            <a:schemeClr val="dk1"/>
                          </a:solidFill>
                          <a:latin typeface="+mn-lt"/>
                          <a:ea typeface="+mn-ea"/>
                          <a:cs typeface="+mn-cs"/>
                          <a:sym typeface="Arial" panose="020B0604020202020204"/>
                        </a:rPr>
                        <a:t>The entire data of this model is to ensure that defective rails can be found in time to stop derailment of trains, to save the loss of lives and property. </a:t>
                      </a:r>
                      <a:endParaRPr lang="en-IN"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20726" y="404037"/>
          <a:ext cx="7060019" cy="3848986"/>
        </p:xfrm>
        <a:graphic>
          <a:graphicData uri="http://schemas.openxmlformats.org/drawingml/2006/table">
            <a:tbl>
              <a:tblPr firstRow="1" bandRow="1">
                <a:tableStyleId>{5C22544A-7EE6-4342-B048-85BDC9FD1C3A}</a:tableStyleId>
              </a:tblPr>
              <a:tblGrid>
                <a:gridCol w="673164"/>
                <a:gridCol w="1272594"/>
                <a:gridCol w="1190846"/>
                <a:gridCol w="1883398"/>
                <a:gridCol w="2040017"/>
              </a:tblGrid>
              <a:tr h="674564">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174422">
                <a:tc>
                  <a:txBody>
                    <a:bodyPr/>
                    <a:lstStyle/>
                    <a:p>
                      <a:pPr algn="just"/>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dirty="0">
                          <a:latin typeface="Times New Roman" panose="02020603050405020304" pitchFamily="18" charset="0"/>
                          <a:cs typeface="Times New Roman" panose="02020603050405020304" pitchFamily="18" charset="0"/>
                        </a:rPr>
                        <a:t>Intelligent Railway Track Crack And Obstacle Detection Using IOT(2023)</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Most of the accidents within the train are caused due to major cracks or obstacle within the railway track. </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It proposes</a:t>
                      </a:r>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 intelligent railway track crack and obstacle detection system using the Internet of Things (IoT). The system is designed to detect cracks and obstacles on railway tracks and alert the railway authorities in real- time, thus ensuring safe and uninterrupted train operations </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most economical solution provided in order to achieve good results of railways of our country in order to minimize the stats of accidents caused. There by possible to save precious lives of passengers and loss of economy. </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83511" y="242038"/>
          <a:ext cx="7176978" cy="4149209"/>
        </p:xfrm>
        <a:graphic>
          <a:graphicData uri="http://schemas.openxmlformats.org/drawingml/2006/table">
            <a:tbl>
              <a:tblPr firstRow="1" bandRow="1">
                <a:tableStyleId>{5C22544A-7EE6-4342-B048-85BDC9FD1C3A}</a:tableStyleId>
              </a:tblPr>
              <a:tblGrid>
                <a:gridCol w="546618"/>
                <a:gridCol w="1389496"/>
                <a:gridCol w="2370072"/>
                <a:gridCol w="1435396"/>
                <a:gridCol w="1435396"/>
              </a:tblGrid>
              <a:tr h="527760">
                <a:tc>
                  <a:txBody>
                    <a:bodyPr/>
                    <a:lstStyle/>
                    <a:p>
                      <a:pPr algn="just"/>
                      <a:r>
                        <a:rPr lang="en-US" dirty="0"/>
                        <a:t>Sl.no</a:t>
                      </a:r>
                      <a:endParaRPr lang="en-IN" dirty="0"/>
                    </a:p>
                  </a:txBody>
                  <a:tcPr/>
                </a:tc>
                <a:tc>
                  <a:txBody>
                    <a:bodyPr/>
                    <a:lstStyle/>
                    <a:p>
                      <a:pPr algn="just"/>
                      <a:r>
                        <a:rPr lang="en-US" dirty="0"/>
                        <a:t>Research Paper title</a:t>
                      </a:r>
                      <a:endParaRPr lang="en-IN" dirty="0"/>
                    </a:p>
                  </a:txBody>
                  <a:tcPr/>
                </a:tc>
                <a:tc>
                  <a:txBody>
                    <a:bodyPr/>
                    <a:lstStyle/>
                    <a:p>
                      <a:pPr algn="just"/>
                      <a:r>
                        <a:rPr lang="en-US" dirty="0"/>
                        <a:t>Problem specified</a:t>
                      </a:r>
                      <a:endParaRPr lang="en-IN" dirty="0"/>
                    </a:p>
                  </a:txBody>
                  <a:tcPr/>
                </a:tc>
                <a:tc>
                  <a:txBody>
                    <a:bodyPr/>
                    <a:lstStyle/>
                    <a:p>
                      <a:pPr algn="just"/>
                      <a:r>
                        <a:rPr lang="en-US" dirty="0"/>
                        <a:t>Authors Access</a:t>
                      </a:r>
                      <a:endParaRPr lang="en-IN" dirty="0"/>
                    </a:p>
                  </a:txBody>
                  <a:tcPr/>
                </a:tc>
                <a:tc>
                  <a:txBody>
                    <a:bodyPr/>
                    <a:lstStyle/>
                    <a:p>
                      <a:pPr algn="just"/>
                      <a:r>
                        <a:rPr lang="en-US" dirty="0"/>
                        <a:t>Results</a:t>
                      </a:r>
                      <a:endParaRPr lang="en-IN" dirty="0"/>
                    </a:p>
                  </a:txBody>
                  <a:tcPr/>
                </a:tc>
              </a:tr>
              <a:tr h="3621449">
                <a:tc>
                  <a:txBody>
                    <a:bodyPr/>
                    <a:lstStyle/>
                    <a:p>
                      <a:pPr algn="just"/>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IoT Based Railway Track Faults Detection and Localization Using Acoustic Analysis (2022)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 Regular maintenance and delayed problem detection, generates severe concerns about the security of rail transit operations in India. As a result, numerous severe incidents have occurred in recent years, resulting in significant human and financial damage. </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Authors look forward to put these arrangements based on locomotives rather than railway carts and gather more fault types or data from other terrains such as desert, and mountains, bridges and tunnels </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This section focuses on the performance and outcomes of the various classifiers and equipment's that are used in here to perform the functions based on the sources provided.</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272363" y="466725"/>
          <a:ext cx="6599273" cy="3971039"/>
        </p:xfrm>
        <a:graphic>
          <a:graphicData uri="http://schemas.openxmlformats.org/drawingml/2006/table">
            <a:tbl>
              <a:tblPr firstRow="1" bandRow="1">
                <a:tableStyleId>{5C22544A-7EE6-4342-B048-85BDC9FD1C3A}</a:tableStyleId>
              </a:tblPr>
              <a:tblGrid>
                <a:gridCol w="721316"/>
                <a:gridCol w="1174057"/>
                <a:gridCol w="1652357"/>
                <a:gridCol w="1648047"/>
                <a:gridCol w="1403496"/>
              </a:tblGrid>
              <a:tr h="608177">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362862">
                <a:tc>
                  <a:txBody>
                    <a:bodyPr/>
                    <a:lstStyle/>
                    <a:p>
                      <a:pPr algn="just"/>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IoT Based Railway Track Faults Detection and</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Localization Using Acoustic Analysis(2022)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Due to human error,</a:t>
                      </a:r>
                      <a:endPar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manually driven systems are insufficient to monitor the health</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of tracks routinely, reliably, frequently, and universally; </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Automatic identification and monitoring of track faults/cracks</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is vital.</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Based on the performed function data can successfully assist in discriminating track defects and localizing these</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defects in real time. The results show that MLP achieved the best results, with an accuracy of 98.4 percent.</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several automated systems have been</a:t>
                      </a:r>
                      <a:endPar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endParaRPr>
                    </a:p>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developed to reduce efforts and boost the efficiency.</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78194" y="567690"/>
          <a:ext cx="7187611" cy="4008120"/>
        </p:xfrm>
        <a:graphic>
          <a:graphicData uri="http://schemas.openxmlformats.org/drawingml/2006/table">
            <a:tbl>
              <a:tblPr firstRow="1" bandRow="1">
                <a:tableStyleId>{5C22544A-7EE6-4342-B048-85BDC9FD1C3A}</a:tableStyleId>
              </a:tblPr>
              <a:tblGrid>
                <a:gridCol w="748014"/>
                <a:gridCol w="1309842"/>
                <a:gridCol w="1761608"/>
                <a:gridCol w="2141768"/>
                <a:gridCol w="1226379"/>
              </a:tblGrid>
              <a:tr h="577441">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430679">
                <a:tc>
                  <a:txBody>
                    <a:bodyPr/>
                    <a:lstStyle/>
                    <a:p>
                      <a:pPr algn="just"/>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Railway Track Crack Detection Using GPS and GSM (2022)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About a railway analysis is detection of cracks on track. If these damages are not controlled at early stages, they might lead to a number of derailments resulting in a heavy loss of life and property. </a:t>
                      </a:r>
                      <a:endParaRPr lang="en-IN" b="0"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model is designed with a camera which sends pictures and live videos. And send alert in  form of SMS messages along with location by using GPS  modules. It even  includes distance measuring sensor which displays the track  distance between the two tracks</a:t>
                      </a:r>
                      <a:r>
                        <a:rPr lang="en-US" sz="1400" b="1"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 </a:t>
                      </a:r>
                      <a:endParaRPr lang="en-IN" b="0" dirty="0">
                        <a:latin typeface="Times New Roman" panose="02020603050405020304" pitchFamily="18" charset="0"/>
                        <a:cs typeface="Times New Roman" panose="02020603050405020304" pitchFamily="18" charset="0"/>
                      </a:endParaRPr>
                    </a:p>
                  </a:txBody>
                  <a:tcPr/>
                </a:tc>
                <a:tc>
                  <a:txBody>
                    <a:bodyPr/>
                    <a:lstStyle/>
                    <a:p>
                      <a:pPr algn="just"/>
                      <a:r>
                        <a:rPr lang="en-IN"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Based on the problem specified </a:t>
                      </a:r>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railway crack detection system using IR Sensor is used . This avoids the train accidents by detecting the cracks on railway tracks. </a:t>
                      </a:r>
                      <a:endParaRPr lang="en-IN" b="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11103" y="323851"/>
          <a:ext cx="6921794" cy="4092338"/>
        </p:xfrm>
        <a:graphic>
          <a:graphicData uri="http://schemas.openxmlformats.org/drawingml/2006/table">
            <a:tbl>
              <a:tblPr firstRow="1" bandRow="1">
                <a:tableStyleId>{5C22544A-7EE6-4342-B048-85BDC9FD1C3A}</a:tableStyleId>
              </a:tblPr>
              <a:tblGrid>
                <a:gridCol w="622004"/>
                <a:gridCol w="1318437"/>
                <a:gridCol w="1194489"/>
                <a:gridCol w="2069707"/>
                <a:gridCol w="1717157"/>
              </a:tblGrid>
              <a:tr h="626754">
                <a:tc>
                  <a:txBody>
                    <a:bodyPr/>
                    <a:lstStyle/>
                    <a:p>
                      <a:r>
                        <a:rPr lang="en-US" dirty="0"/>
                        <a:t>Sl.no</a:t>
                      </a:r>
                      <a:endParaRPr lang="en-IN" dirty="0"/>
                    </a:p>
                  </a:txBody>
                  <a:tcPr/>
                </a:tc>
                <a:tc>
                  <a:txBody>
                    <a:bodyPr/>
                    <a:lstStyle/>
                    <a:p>
                      <a:r>
                        <a:rPr lang="en-US" dirty="0"/>
                        <a:t>Research Paper title</a:t>
                      </a:r>
                      <a:endParaRPr lang="en-IN" dirty="0"/>
                    </a:p>
                  </a:txBody>
                  <a:tcPr/>
                </a:tc>
                <a:tc>
                  <a:txBody>
                    <a:bodyPr/>
                    <a:lstStyle/>
                    <a:p>
                      <a:r>
                        <a:rPr lang="en-US" dirty="0"/>
                        <a:t>Problem specified</a:t>
                      </a:r>
                      <a:endParaRPr lang="en-IN" dirty="0"/>
                    </a:p>
                  </a:txBody>
                  <a:tcPr/>
                </a:tc>
                <a:tc>
                  <a:txBody>
                    <a:bodyPr/>
                    <a:lstStyle/>
                    <a:p>
                      <a:r>
                        <a:rPr lang="en-US" dirty="0"/>
                        <a:t>Authors Access</a:t>
                      </a:r>
                      <a:endParaRPr lang="en-IN" dirty="0"/>
                    </a:p>
                  </a:txBody>
                  <a:tcPr/>
                </a:tc>
                <a:tc>
                  <a:txBody>
                    <a:bodyPr/>
                    <a:lstStyle/>
                    <a:p>
                      <a:r>
                        <a:rPr lang="en-US" dirty="0"/>
                        <a:t>Results</a:t>
                      </a:r>
                      <a:endParaRPr lang="en-IN" dirty="0"/>
                    </a:p>
                  </a:txBody>
                  <a:tcPr/>
                </a:tc>
              </a:tr>
              <a:tr h="3465584">
                <a:tc>
                  <a:txBody>
                    <a:bodyPr/>
                    <a:lstStyle/>
                    <a:p>
                      <a:pPr algn="just"/>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IOT BASED FAULT DETECTION IN RAILWAY TRACK SYSTEM (2023)</a:t>
                      </a:r>
                      <a:endParaRPr lang="en-IN" b="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Sometimes crack can not be seen to loco pilot and there could be accidents happened and passengers are dead</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The system utilizes a combination of sensors, wireless communication, and data analysis techniques. The system has the potential to significantly reduce the risk of accidents and improve the safety of rail transportation, while also reducing maintenance costs and improving the efficiency of railway operations. </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400" b="0" i="0" u="none" strike="noStrike" cap="none" baseline="0" dirty="0">
                          <a:solidFill>
                            <a:schemeClr val="dk1"/>
                          </a:solidFill>
                          <a:latin typeface="Times New Roman" panose="02020603050405020304" pitchFamily="18" charset="0"/>
                          <a:ea typeface="+mn-ea"/>
                          <a:cs typeface="Times New Roman" panose="02020603050405020304" pitchFamily="18" charset="0"/>
                          <a:sym typeface="Arial" panose="020B0604020202020204"/>
                        </a:rPr>
                        <a:t>Based on the object detection solution for ensuring the safety and security of railway systems. It uses a combination of sensors and cameras that are installed along the railway track to monitor it for any signs of damage or obstructions. </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5"/>
          <p:cNvSpPr txBox="1">
            <a:spLocks noGrp="1"/>
          </p:cNvSpPr>
          <p:nvPr>
            <p:ph type="body" idx="1"/>
          </p:nvPr>
        </p:nvSpPr>
        <p:spPr>
          <a:xfrm>
            <a:off x="1096963" y="245230"/>
            <a:ext cx="7045224" cy="76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1581AA"/>
              </a:buClr>
              <a:buSzPts val="2800"/>
              <a:buFont typeface="Calibri" panose="020F0502020204030204"/>
              <a:buNone/>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System Requirements</a:t>
            </a:r>
            <a:endParaRPr sz="1100" b="1" dirty="0"/>
          </a:p>
        </p:txBody>
      </p:sp>
      <p:sp>
        <p:nvSpPr>
          <p:cNvPr id="89" name="Google Shape;89;p5"/>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5</a:t>
            </a:r>
            <a:endParaRPr lang="en-US"/>
          </a:p>
        </p:txBody>
      </p:sp>
      <p:sp>
        <p:nvSpPr>
          <p:cNvPr id="2" name="TextBox 1"/>
          <p:cNvSpPr txBox="1"/>
          <p:nvPr/>
        </p:nvSpPr>
        <p:spPr>
          <a:xfrm>
            <a:off x="1001813" y="785099"/>
            <a:ext cx="3741637" cy="384720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  Software Requirements:</a:t>
            </a: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C(programming Language).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ThingsPeakcloud.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Hardware Requirements:</a:t>
            </a:r>
            <a:endParaRPr lang="en-US"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Uno.</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Motor DriverL293D.</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GPS Module.</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Internet Of Things(Cloud).</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Ultrasonic Sensors.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IR Sensors.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Wi-Fi Device.</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4 Wheel(2 free wheel).</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12 volt Battery</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Jumper Wires.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Buzzer.</a:t>
            </a: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092895" y="1741091"/>
            <a:ext cx="4049292" cy="1261884"/>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Microcontroller(2 types):</a:t>
            </a: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atmega micro328P.</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atmega16U2.</a:t>
            </a:r>
            <a:endParaRPr lang="en-US"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7584" y="494521"/>
            <a:ext cx="6550089" cy="461665"/>
          </a:xfrm>
          <a:prstGeom prst="rect">
            <a:avLst/>
          </a:prstGeom>
          <a:noFill/>
        </p:spPr>
        <p:txBody>
          <a:bodyPr wrap="square" rtlCol="0">
            <a:spAutoFit/>
          </a:bodyPr>
          <a:lstStyle/>
          <a:p>
            <a:pPr algn="ctr"/>
            <a:r>
              <a:rPr lang="en-US" sz="2400" b="1" dirty="0">
                <a:solidFill>
                  <a:schemeClr val="accent2"/>
                </a:solidFill>
                <a:latin typeface="Times New Roman" panose="02020603050405020304" pitchFamily="18" charset="0"/>
                <a:ea typeface="Cambria" panose="02040503050406030204" pitchFamily="18" charset="0"/>
                <a:cs typeface="Times New Roman" panose="02020603050405020304" pitchFamily="18" charset="0"/>
              </a:rPr>
              <a:t>Feasibility Study of the Project</a:t>
            </a:r>
            <a:endParaRPr lang="en-US" sz="2400" b="1" dirty="0">
              <a:solidFill>
                <a:schemeClr val="accent2"/>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p:cNvSpPr txBox="1"/>
          <p:nvPr/>
        </p:nvSpPr>
        <p:spPr>
          <a:xfrm>
            <a:off x="1418058" y="1017742"/>
            <a:ext cx="6550089" cy="3046095"/>
          </a:xfrm>
          <a:prstGeom prst="rect">
            <a:avLst/>
          </a:prstGeom>
          <a:noFill/>
        </p:spPr>
        <p:txBody>
          <a:bodyPr wrap="square">
            <a:spAutoFit/>
          </a:bodyPr>
          <a:lstStyle/>
          <a:p>
            <a:pPr marL="285750" indent="-285750">
              <a:buFont typeface="Arial" panose="020B0604020202020204" pitchFamily="34" charset="0"/>
              <a:buChar char="•"/>
            </a:pPr>
            <a:r>
              <a:rPr lang="en-IN" altLang="en-US" sz="1600" dirty="0">
                <a:latin typeface="Times New Roman" panose="02020603050405020304" pitchFamily="18" charset="0"/>
                <a:cs typeface="Times New Roman" panose="02020603050405020304" pitchFamily="18" charset="0"/>
              </a:rPr>
              <a:t>W</a:t>
            </a:r>
            <a:r>
              <a:rPr lang="en-US" sz="1600" dirty="0">
                <a:latin typeface="Times New Roman" panose="02020603050405020304" pitchFamily="18" charset="0"/>
                <a:cs typeface="Times New Roman" panose="02020603050405020304" pitchFamily="18" charset="0"/>
              </a:rPr>
              <a:t>e use Arduino UNO Board, IR sensor, ultrasonic hc-sr04 sensor and Bluetooth model. </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Arduino consist of processor course, memory and several input and output peripherals. </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GPS</a:t>
            </a:r>
            <a:r>
              <a:rPr lang="en-IN" altLang="en-US" sz="1600" dirty="0">
                <a:latin typeface="Times New Roman" panose="02020603050405020304" pitchFamily="18" charset="0"/>
                <a:cs typeface="Times New Roman" panose="02020603050405020304" pitchFamily="18" charset="0"/>
              </a:rPr>
              <a:t> module</a:t>
            </a:r>
            <a:r>
              <a:rPr lang="en-US" sz="1600" dirty="0">
                <a:latin typeface="Times New Roman" panose="02020603050405020304" pitchFamily="18" charset="0"/>
                <a:cs typeface="Times New Roman" panose="02020603050405020304" pitchFamily="18" charset="0"/>
              </a:rPr>
              <a:t> is used to send the location and mobile network service is used to send alert message to authority</a:t>
            </a:r>
            <a:r>
              <a:rPr lang="en-IN" altLang="en-US" sz="1600" dirty="0">
                <a:latin typeface="Times New Roman" panose="02020603050405020304" pitchFamily="18" charset="0"/>
                <a:cs typeface="Times New Roman" panose="02020603050405020304" pitchFamily="18" charset="0"/>
              </a:rPr>
              <a:t>,also send the information to cloud through wifi device.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0" i="0" u="none" strike="noStrike" baseline="0" dirty="0">
                <a:solidFill>
                  <a:srgbClr val="000000"/>
                </a:solidFill>
                <a:latin typeface="Times New Roman" panose="02020603050405020304" pitchFamily="18" charset="0"/>
                <a:cs typeface="Times New Roman" panose="02020603050405020304" pitchFamily="18" charset="0"/>
              </a:rPr>
              <a:t>Although it would be quite costly in creating it.</a:t>
            </a:r>
            <a:endParaRPr lang="en-US" sz="1600" b="0" i="0" u="none" strike="noStrike" baseline="0"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It has ability to predict the maintanance of the particular area alongg with its older history of the accidents,as weather change,derailing and the soil </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condition through the information stored in cloud ,before building new infrastructure.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7527" y="171473"/>
            <a:ext cx="4202131" cy="523220"/>
          </a:xfrm>
          <a:prstGeom prst="rect">
            <a:avLst/>
          </a:prstGeom>
        </p:spPr>
        <p:txBody>
          <a:bodyPr wrap="square">
            <a:spAutoFit/>
          </a:bodyPr>
          <a:lstStyle/>
          <a:p>
            <a:pPr lvl="0" algn="ctr">
              <a:buClr>
                <a:srgbClr val="1581AA"/>
              </a:buClr>
              <a:buSzPts val="2800"/>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Architecture diagram</a:t>
            </a:r>
            <a:endParaRPr lang="en-US" sz="2800" b="1" dirty="0"/>
          </a:p>
        </p:txBody>
      </p:sp>
      <p:pic>
        <p:nvPicPr>
          <p:cNvPr id="9" name="Picture 8" descr="A diagram of a computer hardware system&#10;&#10;Description automatically generated"/>
          <p:cNvPicPr>
            <a:picLocks noChangeAspect="1"/>
          </p:cNvPicPr>
          <p:nvPr/>
        </p:nvPicPr>
        <p:blipFill>
          <a:blip r:embed="rId1"/>
          <a:stretch>
            <a:fillRect/>
          </a:stretch>
        </p:blipFill>
        <p:spPr>
          <a:xfrm>
            <a:off x="1700155" y="678759"/>
            <a:ext cx="5743689" cy="3785981"/>
          </a:xfrm>
          <a:prstGeom prst="rect">
            <a:avLst/>
          </a:prstGeom>
        </p:spPr>
      </p:pic>
      <p:sp>
        <p:nvSpPr>
          <p:cNvPr id="3" name="Oval 2"/>
          <p:cNvSpPr/>
          <p:nvPr/>
        </p:nvSpPr>
        <p:spPr>
          <a:xfrm>
            <a:off x="1971675" y="882891"/>
            <a:ext cx="1371600" cy="6381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Cloud</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body" idx="1"/>
          </p:nvPr>
        </p:nvSpPr>
        <p:spPr>
          <a:xfrm>
            <a:off x="688623" y="255528"/>
            <a:ext cx="7538184" cy="882316"/>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1581AA"/>
              </a:buClr>
              <a:buSzPts val="2800"/>
              <a:buFont typeface="Calibri" panose="020F0502020204030204"/>
              <a:buNone/>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Flow chart of the Project</a:t>
            </a:r>
            <a:endParaRPr lang="en-US" sz="2800" b="1" dirty="0">
              <a:solidFill>
                <a:srgbClr val="1581AA"/>
              </a:solidFill>
              <a:latin typeface="Calibri" panose="020F0502020204030204"/>
              <a:ea typeface="Calibri" panose="020F0502020204030204"/>
              <a:cs typeface="Calibri" panose="020F0502020204030204"/>
              <a:sym typeface="Calibri" panose="020F0502020204030204"/>
            </a:endParaRPr>
          </a:p>
        </p:txBody>
      </p:sp>
      <p:sp>
        <p:nvSpPr>
          <p:cNvPr id="97" name="Google Shape;97;p6"/>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6</a:t>
            </a:r>
            <a:endParaRPr lang="en-US"/>
          </a:p>
        </p:txBody>
      </p:sp>
      <p:pic>
        <p:nvPicPr>
          <p:cNvPr id="5" name="Picture 4" descr="A diagram of a system&#10;&#10;Description automatically generated"/>
          <p:cNvPicPr>
            <a:picLocks noChangeAspect="1"/>
          </p:cNvPicPr>
          <p:nvPr/>
        </p:nvPicPr>
        <p:blipFill>
          <a:blip r:embed="rId1"/>
          <a:stretch>
            <a:fillRect/>
          </a:stretch>
        </p:blipFill>
        <p:spPr>
          <a:xfrm>
            <a:off x="2420958" y="803547"/>
            <a:ext cx="4302083" cy="3741040"/>
          </a:xfrm>
          <a:prstGeom prst="rect">
            <a:avLst/>
          </a:prstGeom>
        </p:spPr>
      </p:pic>
      <p:sp>
        <p:nvSpPr>
          <p:cNvPr id="6" name="Rectangle 5"/>
          <p:cNvSpPr/>
          <p:nvPr/>
        </p:nvSpPr>
        <p:spPr>
          <a:xfrm>
            <a:off x="2834295" y="3790949"/>
            <a:ext cx="1228725" cy="238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Wi-Fi</a:t>
            </a:r>
            <a:endParaRPr lang="en-IN" dirty="0"/>
          </a:p>
        </p:txBody>
      </p:sp>
      <p:sp>
        <p:nvSpPr>
          <p:cNvPr id="7" name="Rectangle 6"/>
          <p:cNvSpPr/>
          <p:nvPr/>
        </p:nvSpPr>
        <p:spPr>
          <a:xfrm>
            <a:off x="4324350" y="3714750"/>
            <a:ext cx="1600200" cy="3905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Cloud</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8818" y="203563"/>
            <a:ext cx="4230330" cy="523220"/>
          </a:xfrm>
          <a:prstGeom prst="rect">
            <a:avLst/>
          </a:prstGeom>
        </p:spPr>
        <p:txBody>
          <a:bodyPr wrap="square">
            <a:spAutoFit/>
          </a:bodyPr>
          <a:lstStyle/>
          <a:p>
            <a:pPr lvl="0" algn="ctr">
              <a:buClr>
                <a:srgbClr val="1581AA"/>
              </a:buClr>
              <a:buSzPts val="2800"/>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Data Flow Diagram</a:t>
            </a:r>
            <a:endParaRPr lang="en-US" sz="2800" b="1" dirty="0">
              <a:solidFill>
                <a:srgbClr val="1581AA"/>
              </a:solidFill>
              <a:latin typeface="Calibri" panose="020F0502020204030204"/>
              <a:ea typeface="Calibri" panose="020F0502020204030204"/>
              <a:cs typeface="Calibri" panose="020F0502020204030204"/>
              <a:sym typeface="Calibri" panose="020F0502020204030204"/>
            </a:endParaRPr>
          </a:p>
        </p:txBody>
      </p:sp>
      <p:pic>
        <p:nvPicPr>
          <p:cNvPr id="4" name="Picture 3" descr="A diagram of a vehicle sensor&#10;&#10;Description automatically generated"/>
          <p:cNvPicPr>
            <a:picLocks noChangeAspect="1"/>
          </p:cNvPicPr>
          <p:nvPr/>
        </p:nvPicPr>
        <p:blipFill>
          <a:blip r:embed="rId1"/>
          <a:stretch>
            <a:fillRect/>
          </a:stretch>
        </p:blipFill>
        <p:spPr>
          <a:xfrm>
            <a:off x="1496970" y="726784"/>
            <a:ext cx="5752213" cy="3855850"/>
          </a:xfrm>
          <a:prstGeom prst="rect">
            <a:avLst/>
          </a:prstGeom>
        </p:spPr>
      </p:pic>
      <p:sp>
        <p:nvSpPr>
          <p:cNvPr id="3" name="Rectangle 2"/>
          <p:cNvSpPr/>
          <p:nvPr/>
        </p:nvSpPr>
        <p:spPr>
          <a:xfrm>
            <a:off x="3819525" y="1323974"/>
            <a:ext cx="1590675"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50000"/>
                    <a:lumOff val="50000"/>
                  </a:schemeClr>
                </a:solidFill>
                <a:latin typeface="Times New Roman" panose="02020603050405020304" pitchFamily="18" charset="0"/>
                <a:cs typeface="Times New Roman" panose="02020603050405020304" pitchFamily="18" charset="0"/>
              </a:rPr>
              <a:t>Move vehicle forward</a:t>
            </a:r>
            <a:endParaRPr lang="en-IN" sz="11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4800600" y="1765563"/>
            <a:ext cx="1685925" cy="238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lumMod val="50000"/>
                    <a:lumOff val="50000"/>
                  </a:schemeClr>
                </a:solidFill>
                <a:latin typeface="Times New Roman" panose="02020603050405020304" pitchFamily="18" charset="0"/>
                <a:cs typeface="Times New Roman" panose="02020603050405020304" pitchFamily="18" charset="0"/>
              </a:rPr>
              <a:t>Ultrasonic sensor  activated</a:t>
            </a:r>
            <a:endParaRPr lang="en-IN" sz="105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7" name="Rectangle 6"/>
          <p:cNvSpPr/>
          <p:nvPr/>
        </p:nvSpPr>
        <p:spPr>
          <a:xfrm>
            <a:off x="3429000" y="3705225"/>
            <a:ext cx="2276475"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Times New Roman" panose="02020603050405020304" pitchFamily="18" charset="0"/>
                <a:cs typeface="Times New Roman" panose="02020603050405020304" pitchFamily="18" charset="0"/>
              </a:rPr>
              <a:t>Send the data to cloud</a:t>
            </a:r>
            <a:endParaRPr lang="en-IN"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50460" y="486425"/>
            <a:ext cx="3059671" cy="523220"/>
          </a:xfrm>
          <a:prstGeom prst="rect">
            <a:avLst/>
          </a:prstGeom>
        </p:spPr>
        <p:txBody>
          <a:bodyPr wrap="square">
            <a:spAutoFit/>
          </a:bodyPr>
          <a:lstStyle/>
          <a:p>
            <a:pPr lvl="0" algn="ctr">
              <a:buClr>
                <a:srgbClr val="1581AA"/>
              </a:buClr>
              <a:buSzPts val="2800"/>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Possible Outcomes</a:t>
            </a:r>
            <a:endParaRPr lang="en-US" sz="2800" b="1" dirty="0">
              <a:solidFill>
                <a:srgbClr val="1581AA"/>
              </a:solidFill>
              <a:latin typeface="Calibri" panose="020F0502020204030204"/>
              <a:ea typeface="Calibri" panose="020F0502020204030204"/>
              <a:cs typeface="Calibri" panose="020F0502020204030204"/>
              <a:sym typeface="Calibri" panose="020F0502020204030204"/>
            </a:endParaRPr>
          </a:p>
        </p:txBody>
      </p:sp>
      <p:sp>
        <p:nvSpPr>
          <p:cNvPr id="4" name="TextBox 3"/>
          <p:cNvSpPr txBox="1"/>
          <p:nvPr/>
        </p:nvSpPr>
        <p:spPr>
          <a:xfrm>
            <a:off x="1095153" y="1009645"/>
            <a:ext cx="6826103" cy="3208379"/>
          </a:xfrm>
          <a:prstGeom prst="rect">
            <a:avLst/>
          </a:prstGeom>
          <a:noFill/>
        </p:spPr>
        <p:txBody>
          <a:bodyPr wrap="square">
            <a:spAutoFit/>
          </a:bodyPr>
          <a:lstStyle/>
          <a:p>
            <a:pPr algn="l"/>
            <a:endParaRPr lang="en-IN" sz="1600" b="0" i="0" u="none" strike="noStrike" baseline="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It is possible to create a simple yet effective and efficient ultrasonic distance measuring device that can take measurements comparable to any of the existing alternative measuring devices. </a:t>
            </a:r>
            <a:endParaRPr lang="en-US" sz="1400" b="0" i="0" u="none" strike="noStrike" baseline="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 It is possible to create the ultrasonic distance measuring device to take measurements with minimal to no errors. </a:t>
            </a:r>
            <a:endParaRPr lang="en-IN" sz="1400" b="0" i="0" u="none" strike="noStrike" baseline="0" dirty="0">
              <a:latin typeface="Times New Roman" panose="02020603050405020304" pitchFamily="18" charset="0"/>
            </a:endParaRPr>
          </a:p>
          <a:p>
            <a:pPr marL="285750" indent="-285750" algn="just">
              <a:lnSpc>
                <a:spcPct val="150000"/>
              </a:lnSpc>
              <a:buFont typeface="Arial" panose="020B0604020202020204" pitchFamily="34" charset="0"/>
              <a:buChar char="•"/>
            </a:pPr>
            <a:r>
              <a:rPr lang="en-US" sz="1400" b="0" i="0" u="none" strike="noStrike" baseline="0" dirty="0">
                <a:latin typeface="Times New Roman" panose="02020603050405020304" pitchFamily="18" charset="0"/>
              </a:rPr>
              <a:t>The device may not be cheap to a typical consumer, but the reusability of the device’s components will come in handy especially to tech  enthusiasts. </a:t>
            </a:r>
            <a:endParaRPr lang="en-US" sz="1400" b="0" i="0" u="none" strike="noStrike" baseline="0" dirty="0">
              <a:latin typeface="Times New Roman" panose="02020603050405020304" pitchFamily="18" charset="0"/>
            </a:endParaRPr>
          </a:p>
          <a:p>
            <a:pPr marL="285750" indent="-285750" algn="just">
              <a:lnSpc>
                <a:spcPct val="150000"/>
              </a:lnSpc>
              <a:buFont typeface="Arial" panose="020B0604020202020204" pitchFamily="34" charset="0"/>
              <a:buChar char="•"/>
            </a:pPr>
            <a:r>
              <a:rPr lang="en-US" sz="1400" b="0" i="0" u="none" strike="noStrike" baseline="0" dirty="0">
                <a:latin typeface="Times New Roman" panose="02020603050405020304" pitchFamily="18" charset="0"/>
              </a:rPr>
              <a:t> The device’s operation is simple; therefore, it will not be complicated. But an improvement on the device’s portability would make it better. </a:t>
            </a:r>
            <a:endParaRPr lang="en-US" sz="1400" b="0" i="0" u="none" strike="noStrike" baseline="0"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body" idx="1"/>
          </p:nvPr>
        </p:nvSpPr>
        <p:spPr>
          <a:xfrm>
            <a:off x="688623" y="255528"/>
            <a:ext cx="7538184" cy="882316"/>
          </a:xfrm>
          <a:prstGeom prst="rect">
            <a:avLst/>
          </a:prstGeom>
          <a:noFill/>
          <a:ln>
            <a:noFill/>
          </a:ln>
        </p:spPr>
        <p:txBody>
          <a:bodyPr spcFirstLastPara="1" wrap="square" lIns="91425" tIns="91425" rIns="91425" bIns="91425" anchor="t" anchorCtr="0">
            <a:noAutofit/>
          </a:bodyPr>
          <a:lstStyle/>
          <a:p>
            <a:pPr marL="203200" lvl="0" indent="0" algn="ctr" rtl="0">
              <a:spcBef>
                <a:spcPts val="0"/>
              </a:spcBef>
              <a:spcAft>
                <a:spcPts val="0"/>
              </a:spcAft>
              <a:buClr>
                <a:srgbClr val="1581AA"/>
              </a:buClr>
              <a:buSzPts val="2800"/>
              <a:buFont typeface="Calibri" panose="020F0502020204030204"/>
              <a:buNone/>
            </a:pPr>
            <a:r>
              <a:rPr lang="en-US" sz="2800" b="1" dirty="0">
                <a:solidFill>
                  <a:srgbClr val="1581AA"/>
                </a:solidFill>
                <a:latin typeface="Calibri" panose="020F0502020204030204"/>
                <a:ea typeface="Calibri" panose="020F0502020204030204"/>
                <a:cs typeface="Calibri" panose="020F0502020204030204"/>
                <a:sym typeface="Calibri" panose="020F0502020204030204"/>
              </a:rPr>
              <a:t>References </a:t>
            </a:r>
            <a:endParaRPr b="1" dirty="0"/>
          </a:p>
        </p:txBody>
      </p:sp>
      <p:sp>
        <p:nvSpPr>
          <p:cNvPr id="97" name="Google Shape;97;p6"/>
          <p:cNvSpPr txBox="1">
            <a:spLocks noGrp="1"/>
          </p:cNvSpPr>
          <p:nvPr>
            <p:ph type="sldNum" idx="12"/>
          </p:nvPr>
        </p:nvSpPr>
        <p:spPr>
          <a:xfrm>
            <a:off x="511175" y="4813300"/>
            <a:ext cx="585788" cy="2730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6</a:t>
            </a:r>
            <a:endParaRPr lang="en-US"/>
          </a:p>
        </p:txBody>
      </p:sp>
      <p:sp>
        <p:nvSpPr>
          <p:cNvPr id="3" name="TextBox 2"/>
          <p:cNvSpPr txBox="1"/>
          <p:nvPr/>
        </p:nvSpPr>
        <p:spPr>
          <a:xfrm>
            <a:off x="999459" y="1137844"/>
            <a:ext cx="7070653" cy="3231654"/>
          </a:xfrm>
          <a:prstGeom prst="rect">
            <a:avLst/>
          </a:prstGeom>
          <a:noFill/>
        </p:spPr>
        <p:txBody>
          <a:bodyPr wrap="square">
            <a:spAutoFit/>
          </a:bodyPr>
          <a:lstStyle/>
          <a:p>
            <a:pPr marL="285750" indent="-285750">
              <a:buFont typeface="Arial" panose="020B0604020202020204" pitchFamily="34" charset="0"/>
              <a:buChar char="•"/>
            </a:pPr>
            <a:r>
              <a:rPr lang="en-IN" b="0" i="0" u="none" strike="noStrike" baseline="0" dirty="0" err="1">
                <a:solidFill>
                  <a:srgbClr val="000000"/>
                </a:solidFill>
                <a:latin typeface="Times New Roman" panose="02020603050405020304" pitchFamily="18" charset="0"/>
              </a:rPr>
              <a:t>Bongolan</a:t>
            </a:r>
            <a:r>
              <a:rPr lang="en-IN" b="0" i="0" u="none" strike="noStrike" baseline="0" dirty="0">
                <a:solidFill>
                  <a:srgbClr val="000000"/>
                </a:solidFill>
                <a:latin typeface="Times New Roman" panose="02020603050405020304" pitchFamily="18" charset="0"/>
              </a:rPr>
              <a:t>, Riyadh Renzo S. ‘ULTRASONIC DISTANCE MEASURING DEVICE’,2019. </a:t>
            </a:r>
            <a:endParaRPr lang="en-IN" b="0" i="0" u="none" strike="noStrike" baseline="0" dirty="0">
              <a:solidFill>
                <a:srgbClr val="000000"/>
              </a:solidFill>
              <a:latin typeface="Times New Roman" panose="02020603050405020304" pitchFamily="18" charset="0"/>
            </a:endParaRPr>
          </a:p>
          <a:p>
            <a:pPr marL="285750" indent="-285750">
              <a:buFont typeface="Arial" panose="020B0604020202020204" pitchFamily="34" charset="0"/>
              <a:buChar char="•"/>
            </a:pPr>
            <a:r>
              <a:rPr lang="en-IN" b="0" i="0" u="none" strike="noStrike" baseline="0" dirty="0" err="1">
                <a:solidFill>
                  <a:srgbClr val="000000"/>
                </a:solidFill>
                <a:latin typeface="Times New Roman" panose="02020603050405020304" pitchFamily="18" charset="0"/>
              </a:rPr>
              <a:t>Kharisma</a:t>
            </a:r>
            <a:r>
              <a:rPr lang="en-IN" b="0" i="0" u="none" strike="noStrike" baseline="0" dirty="0">
                <a:solidFill>
                  <a:srgbClr val="000000"/>
                </a:solidFill>
                <a:latin typeface="Times New Roman" panose="02020603050405020304" pitchFamily="18" charset="0"/>
              </a:rPr>
              <a:t>, O. B., </a:t>
            </a:r>
            <a:r>
              <a:rPr lang="en-IN" b="0" i="0" u="none" strike="noStrike" baseline="0" dirty="0" err="1">
                <a:solidFill>
                  <a:srgbClr val="000000"/>
                </a:solidFill>
                <a:latin typeface="Times New Roman" panose="02020603050405020304" pitchFamily="18" charset="0"/>
              </a:rPr>
              <a:t>Dzikra</a:t>
            </a:r>
            <a:r>
              <a:rPr lang="en-IN" b="0" i="0" u="none" strike="noStrike" baseline="0" dirty="0">
                <a:solidFill>
                  <a:srgbClr val="000000"/>
                </a:solidFill>
                <a:latin typeface="Times New Roman" panose="02020603050405020304" pitchFamily="18" charset="0"/>
              </a:rPr>
              <a:t>, A. A., </a:t>
            </a:r>
            <a:r>
              <a:rPr lang="en-IN" b="0" i="0" u="none" strike="noStrike" baseline="0" dirty="0" err="1">
                <a:solidFill>
                  <a:srgbClr val="000000"/>
                </a:solidFill>
                <a:latin typeface="Times New Roman" panose="02020603050405020304" pitchFamily="18" charset="0"/>
              </a:rPr>
              <a:t>Vebrianto</a:t>
            </a:r>
            <a:r>
              <a:rPr lang="en-IN" b="0" i="0" u="none" strike="noStrike" baseline="0" dirty="0">
                <a:solidFill>
                  <a:srgbClr val="000000"/>
                </a:solidFill>
                <a:latin typeface="Times New Roman" panose="02020603050405020304" pitchFamily="18" charset="0"/>
              </a:rPr>
              <a:t>, R., Novita, R., Novita, Y., Nazir, A., &amp; </a:t>
            </a:r>
            <a:r>
              <a:rPr lang="en-IN" b="0" i="0" u="none" strike="noStrike" baseline="0" dirty="0" err="1">
                <a:solidFill>
                  <a:srgbClr val="000000"/>
                </a:solidFill>
                <a:latin typeface="Times New Roman" panose="02020603050405020304" pitchFamily="18" charset="0"/>
              </a:rPr>
              <a:t>Andriani</a:t>
            </a:r>
            <a:r>
              <a:rPr lang="en-IN" b="0" i="0" u="none" strike="noStrike" baseline="0" dirty="0">
                <a:solidFill>
                  <a:srgbClr val="000000"/>
                </a:solidFill>
                <a:latin typeface="Times New Roman" panose="02020603050405020304" pitchFamily="18" charset="0"/>
              </a:rPr>
              <a:t>, T. ‘Development of location tracking system via short message service (SMS) based on GPS </a:t>
            </a:r>
            <a:r>
              <a:rPr lang="en-IN" b="0" i="0" u="none" strike="noStrike" baseline="0" dirty="0" err="1">
                <a:solidFill>
                  <a:srgbClr val="000000"/>
                </a:solidFill>
                <a:latin typeface="Times New Roman" panose="02020603050405020304" pitchFamily="18" charset="0"/>
              </a:rPr>
              <a:t>unblox</a:t>
            </a:r>
            <a:r>
              <a:rPr lang="en-IN" b="0" i="0" u="none" strike="noStrike" baseline="0" dirty="0">
                <a:solidFill>
                  <a:srgbClr val="000000"/>
                </a:solidFill>
                <a:latin typeface="Times New Roman" panose="02020603050405020304" pitchFamily="18" charset="0"/>
              </a:rPr>
              <a:t> neo-6m and sim 800l module’. In Journal of Physics: Conference </a:t>
            </a:r>
            <a:r>
              <a:rPr lang="en-IN" b="0" i="0" u="none" strike="noStrike" baseline="0" dirty="0" err="1">
                <a:solidFill>
                  <a:srgbClr val="000000"/>
                </a:solidFill>
                <a:latin typeface="Times New Roman" panose="02020603050405020304" pitchFamily="18" charset="0"/>
              </a:rPr>
              <a:t>Series,pp</a:t>
            </a:r>
            <a:r>
              <a:rPr lang="en-IN" b="0" i="0" u="none" strike="noStrike" baseline="0" dirty="0">
                <a:solidFill>
                  <a:srgbClr val="000000"/>
                </a:solidFill>
                <a:latin typeface="Times New Roman" panose="02020603050405020304" pitchFamily="18" charset="0"/>
              </a:rPr>
              <a:t>. 1-7, Nov., 2019.</a:t>
            </a:r>
            <a:endParaRPr lang="en-IN" b="0" i="0" u="none" strike="noStrike" baseline="0" dirty="0">
              <a:solidFill>
                <a:srgbClr val="000000"/>
              </a:solidFill>
              <a:latin typeface="Times New Roman" panose="02020603050405020304" pitchFamily="18" charset="0"/>
            </a:endParaRPr>
          </a:p>
          <a:p>
            <a:pPr marL="285750" indent="-285750">
              <a:buFont typeface="Arial" panose="020B0604020202020204" pitchFamily="34" charset="0"/>
              <a:buChar char="•"/>
            </a:pPr>
            <a:r>
              <a:rPr lang="en-IN" b="0" i="0" u="none" strike="noStrike" baseline="0" dirty="0">
                <a:solidFill>
                  <a:srgbClr val="000000"/>
                </a:solidFill>
                <a:latin typeface="Times New Roman" panose="02020603050405020304" pitchFamily="18" charset="0"/>
              </a:rPr>
              <a:t>Pyle, Richard J., et al. ‘Deep learning for ultrasonic crack characterization in NDE’, IEEE Transactions on Ultrasonics, Ferroelectrics, and Frequency Control, pp. 1854-1865, 2020. </a:t>
            </a:r>
            <a:endParaRPr lang="en-IN" dirty="0">
              <a:latin typeface="Times New Roman" panose="02020603050405020304" pitchFamily="18" charset="0"/>
            </a:endParaRPr>
          </a:p>
          <a:p>
            <a:pPr marL="285750" indent="-285750">
              <a:buFont typeface="Arial" panose="020B0604020202020204" pitchFamily="34" charset="0"/>
              <a:buChar char="•"/>
            </a:pPr>
            <a:r>
              <a:rPr lang="en-IN" b="0" i="0" u="none" strike="noStrike" baseline="0" dirty="0" err="1">
                <a:solidFill>
                  <a:srgbClr val="000000"/>
                </a:solidFill>
                <a:latin typeface="Times New Roman" panose="02020603050405020304" pitchFamily="18" charset="0"/>
              </a:rPr>
              <a:t>Microsonic</a:t>
            </a:r>
            <a:r>
              <a:rPr lang="en-IN" b="0" i="0" u="none" strike="noStrike" baseline="0" dirty="0">
                <a:solidFill>
                  <a:srgbClr val="000000"/>
                </a:solidFill>
                <a:latin typeface="Times New Roman" panose="02020603050405020304" pitchFamily="18" charset="0"/>
              </a:rPr>
              <a:t>. (2019). Ultrasonic principle. </a:t>
            </a:r>
            <a:endParaRPr lang="en-IN" b="0" i="0" u="none" strike="noStrike" baseline="0" dirty="0">
              <a:solidFill>
                <a:srgbClr val="000000"/>
              </a:solidFill>
              <a:latin typeface="Times New Roman" panose="02020603050405020304" pitchFamily="18" charset="0"/>
            </a:endParaRPr>
          </a:p>
          <a:p>
            <a:pPr marL="285750" indent="-285750">
              <a:buFont typeface="Arial" panose="020B0604020202020204" pitchFamily="34" charset="0"/>
              <a:buChar char="•"/>
            </a:pPr>
            <a:r>
              <a:rPr lang="en-IN" b="0" i="0" u="none" strike="noStrike" baseline="0" dirty="0">
                <a:solidFill>
                  <a:schemeClr val="tx1"/>
                </a:solidFill>
                <a:latin typeface="Times New Roman" panose="02020603050405020304" pitchFamily="18" charset="0"/>
              </a:rPr>
              <a:t>https://www.microsonic.de/en/support/ultrasonictechnology/principle.htm.  </a:t>
            </a:r>
            <a:endParaRPr lang="en-IN" b="0" i="0" u="none" strike="noStrike" baseline="0" dirty="0">
              <a:solidFill>
                <a:schemeClr val="tx1"/>
              </a:solidFill>
              <a:latin typeface="Times New Roman" panose="02020603050405020304" pitchFamily="18" charset="0"/>
            </a:endParaRPr>
          </a:p>
          <a:p>
            <a:pPr marL="285750"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Akhil N, Dinu Mohan, </a:t>
            </a:r>
            <a:r>
              <a:rPr lang="en-US" b="0" i="0" u="none" strike="noStrike" baseline="0" dirty="0" err="1">
                <a:solidFill>
                  <a:srgbClr val="000000"/>
                </a:solidFill>
                <a:latin typeface="Times New Roman" panose="02020603050405020304" pitchFamily="18" charset="0"/>
              </a:rPr>
              <a:t>Fayis</a:t>
            </a:r>
            <a:r>
              <a:rPr lang="en-US" b="0" i="0" u="none" strike="noStrike" baseline="0" dirty="0">
                <a:solidFill>
                  <a:srgbClr val="000000"/>
                </a:solidFill>
                <a:latin typeface="Times New Roman" panose="02020603050405020304" pitchFamily="18" charset="0"/>
              </a:rPr>
              <a:t> P, </a:t>
            </a:r>
            <a:r>
              <a:rPr lang="en-US" b="0" i="0" u="none" strike="noStrike" baseline="0" dirty="0" err="1">
                <a:solidFill>
                  <a:srgbClr val="000000"/>
                </a:solidFill>
                <a:latin typeface="Times New Roman" panose="02020603050405020304" pitchFamily="18" charset="0"/>
              </a:rPr>
              <a:t>Sija</a:t>
            </a:r>
            <a:r>
              <a:rPr lang="en-US" b="0" i="0" u="none" strike="noStrike" baseline="0" dirty="0">
                <a:solidFill>
                  <a:srgbClr val="000000"/>
                </a:solidFill>
                <a:latin typeface="Times New Roman" panose="02020603050405020304" pitchFamily="18" charset="0"/>
              </a:rPr>
              <a:t> Gopinath, “Railway Crack Detection System” ISSN 2395 0056 International Research Journal of Engineering and Technology Volume3, Issue-5, May 2016.</a:t>
            </a:r>
            <a:endParaRPr lang="en-US" b="0" i="0" u="none" strike="noStrike" baseline="0" dirty="0">
              <a:solidFill>
                <a:srgbClr val="000000"/>
              </a:solidFill>
              <a:latin typeface="Times New Roman" panose="02020603050405020304" pitchFamily="18" charset="0"/>
            </a:endParaRPr>
          </a:p>
          <a:p>
            <a:pPr marL="285750" indent="-285750">
              <a:buFont typeface="Arial" panose="020B0604020202020204" pitchFamily="34" charset="0"/>
              <a:buChar char="•"/>
            </a:pPr>
            <a:r>
              <a:rPr lang="en-US" sz="1200" b="0" i="0" u="none" strike="noStrike" baseline="0" dirty="0" err="1">
                <a:solidFill>
                  <a:srgbClr val="000000"/>
                </a:solidFill>
                <a:latin typeface="Times New Roman" panose="02020603050405020304" pitchFamily="18" charset="0"/>
              </a:rPr>
              <a:t>Prof.P</a:t>
            </a:r>
            <a:r>
              <a:rPr lang="en-US" sz="1200" b="0" i="0" u="none" strike="noStrike" baseline="0" dirty="0">
                <a:solidFill>
                  <a:srgbClr val="000000"/>
                </a:solidFill>
                <a:latin typeface="Times New Roman" panose="02020603050405020304" pitchFamily="18" charset="0"/>
              </a:rPr>
              <a:t>. </a:t>
            </a:r>
            <a:r>
              <a:rPr lang="en-US" sz="1200" b="0" i="0" u="none" strike="noStrike" baseline="0" dirty="0" err="1">
                <a:solidFill>
                  <a:srgbClr val="000000"/>
                </a:solidFill>
                <a:latin typeface="Times New Roman" panose="02020603050405020304" pitchFamily="18" charset="0"/>
              </a:rPr>
              <a:t>Navaraja</a:t>
            </a:r>
            <a:r>
              <a:rPr lang="en-US" sz="1200" b="0" i="0" u="none" strike="noStrike" baseline="0" dirty="0">
                <a:solidFill>
                  <a:srgbClr val="000000"/>
                </a:solidFill>
                <a:latin typeface="Times New Roman" panose="02020603050405020304" pitchFamily="18" charset="0"/>
              </a:rPr>
              <a:t>. “Crack Detection System for Railway Track By Using Ultrasonic and PIR Sensor” ISSN 2348- 9928 International Journal of Advanced Information and Communication Technology Volume- 1, Issue-1, May2014. </a:t>
            </a:r>
            <a:endParaRPr lang="en-US" sz="1200" b="0" i="0" u="none" strike="noStrike" baseline="0" dirty="0">
              <a:solidFill>
                <a:srgbClr val="000000"/>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2260" y="691116"/>
            <a:ext cx="7368362" cy="1046440"/>
          </a:xfrm>
          <a:prstGeom prst="rect">
            <a:avLst/>
          </a:prstGeom>
          <a:noFill/>
        </p:spPr>
        <p:txBody>
          <a:bodyPr wrap="square">
            <a:spAutoFit/>
          </a:bodyPr>
          <a:lstStyle/>
          <a:p>
            <a:pPr marL="285750" indent="-285750" algn="just">
              <a:buFont typeface="Arial" panose="020B0604020202020204" pitchFamily="34" charset="0"/>
              <a:buChar char="•"/>
            </a:pPr>
            <a:r>
              <a:rPr lang="en-US" sz="1400" b="0" i="0" u="none" strike="noStrike" baseline="0" dirty="0">
                <a:solidFill>
                  <a:srgbClr val="000000"/>
                </a:solidFill>
                <a:latin typeface="Times New Roman" panose="02020603050405020304" pitchFamily="18" charset="0"/>
              </a:rPr>
              <a:t> </a:t>
            </a:r>
            <a:r>
              <a:rPr lang="en-US" sz="1200" b="0" i="0" u="none" strike="noStrike" baseline="0" dirty="0">
                <a:solidFill>
                  <a:srgbClr val="000000"/>
                </a:solidFill>
                <a:latin typeface="Times New Roman" panose="02020603050405020304" pitchFamily="18" charset="0"/>
              </a:rPr>
              <a:t>A. Rizvi, P. Khan and D. Ahmad, "Crack Detection In Railway Track Using Image Processing", International Journal of Advance Research, Ideas and Innovations in Technology., vol. 3, no. 4, 2017. </a:t>
            </a:r>
            <a:endParaRPr lang="en-US" sz="1200" b="0" i="0" u="none" strike="noStrike" baseline="0" dirty="0">
              <a:solidFill>
                <a:srgbClr val="000000"/>
              </a:solidFill>
              <a:latin typeface="Times New Roman" panose="02020603050405020304" pitchFamily="18" charset="0"/>
            </a:endParaRPr>
          </a:p>
          <a:p>
            <a:pPr marL="171450" indent="-171450" algn="just">
              <a:buFont typeface="Arial" panose="020B0604020202020204" pitchFamily="34" charset="0"/>
              <a:buChar char="•"/>
            </a:pPr>
            <a:r>
              <a:rPr lang="en-US" sz="1200" b="0" i="0" u="none" strike="noStrike" baseline="0" dirty="0">
                <a:solidFill>
                  <a:srgbClr val="000000"/>
                </a:solidFill>
                <a:latin typeface="Times New Roman" panose="02020603050405020304" pitchFamily="18" charset="0"/>
              </a:rPr>
              <a:t>S. Srivastava, R. </a:t>
            </a:r>
            <a:r>
              <a:rPr lang="en-US" sz="1200" b="0" i="0" u="none" strike="noStrike" baseline="0" dirty="0" err="1">
                <a:solidFill>
                  <a:srgbClr val="000000"/>
                </a:solidFill>
                <a:latin typeface="Times New Roman" panose="02020603050405020304" pitchFamily="18" charset="0"/>
              </a:rPr>
              <a:t>Chaurasia</a:t>
            </a:r>
            <a:r>
              <a:rPr lang="en-US" sz="1200" b="0" i="0" u="none" strike="noStrike" baseline="0" dirty="0">
                <a:solidFill>
                  <a:srgbClr val="000000"/>
                </a:solidFill>
                <a:latin typeface="Times New Roman" panose="02020603050405020304" pitchFamily="18" charset="0"/>
              </a:rPr>
              <a:t>, S. Abbas, P. Sharma and N. Singh, "Railway Track Crack Detection Vehicle", International Advanced Research Journal in Science, Engineering and Technology, vol. 4, no. 2, pp. 145-148, 2017.</a:t>
            </a:r>
            <a:endParaRPr lang="en-US" sz="1200" b="0" i="0" u="none" strike="noStrike" baseline="0" dirty="0">
              <a:solidFill>
                <a:srgbClr val="000000"/>
              </a:solidFill>
              <a:latin typeface="Times New Roman" panose="02020603050405020304" pitchFamily="18" charset="0"/>
            </a:endParaRPr>
          </a:p>
        </p:txBody>
      </p:sp>
      <p:sp>
        <p:nvSpPr>
          <p:cNvPr id="2" name="Text Box 1"/>
          <p:cNvSpPr txBox="1"/>
          <p:nvPr/>
        </p:nvSpPr>
        <p:spPr>
          <a:xfrm>
            <a:off x="-84455" y="341630"/>
            <a:ext cx="3048000" cy="306705"/>
          </a:xfrm>
          <a:prstGeom prst="rect">
            <a:avLst/>
          </a:prstGeom>
          <a:noFill/>
        </p:spPr>
        <p:txBody>
          <a:bodyPr wrap="square" rtlCol="0">
            <a:spAutoFit/>
          </a:bodyPr>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3"/>
          <p:cNvSpPr txBox="1"/>
          <p:nvPr/>
        </p:nvSpPr>
        <p:spPr>
          <a:xfrm>
            <a:off x="650081" y="4743450"/>
            <a:ext cx="64293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chemeClr val="lt1"/>
                </a:solidFill>
                <a:latin typeface="Century Gothic" panose="020B0502020202020204"/>
                <a:ea typeface="Century Gothic" panose="020B0502020202020204"/>
                <a:cs typeface="Century Gothic" panose="020B0502020202020204"/>
                <a:sym typeface="Century Gothic" panose="020B0502020202020204"/>
              </a:rPr>
              <a:t>13</a:t>
            </a:r>
            <a:endParaRPr sz="2000" b="1" i="1">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59" name="Google Shape;159;p13"/>
          <p:cNvSpPr txBox="1"/>
          <p:nvPr/>
        </p:nvSpPr>
        <p:spPr>
          <a:xfrm>
            <a:off x="3200400" y="2343150"/>
            <a:ext cx="27432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a:solidFill>
                <a:srgbClr val="000000"/>
              </a:solidFill>
              <a:latin typeface="Arial" panose="020B0604020202020204"/>
              <a:ea typeface="Arial" panose="020B0604020202020204"/>
              <a:cs typeface="Arial" panose="020B0604020202020204"/>
              <a:sym typeface="Arial" panose="020B0604020202020204"/>
            </a:endParaRPr>
          </a:p>
        </p:txBody>
      </p:sp>
      <p:pic>
        <p:nvPicPr>
          <p:cNvPr id="160" name="Google Shape;160;p13" descr="A picture containing text, stationary, writing implement, pen&#10;&#10;Description automatically generated"/>
          <p:cNvPicPr preferRelativeResize="0"/>
          <p:nvPr/>
        </p:nvPicPr>
        <p:blipFill rotWithShape="1">
          <a:blip r:embed="rId1"/>
          <a:srcRect/>
          <a:stretch>
            <a:fillRect/>
          </a:stretch>
        </p:blipFill>
        <p:spPr>
          <a:xfrm>
            <a:off x="1131453" y="1130600"/>
            <a:ext cx="7017705" cy="3247121"/>
          </a:xfrm>
          <a:prstGeom prst="rect">
            <a:avLst/>
          </a:prstGeom>
          <a:noFill/>
          <a:ln>
            <a:noFill/>
          </a:ln>
        </p:spPr>
      </p:pic>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2E5369"/>
      </a:dk2>
      <a:lt2>
        <a:srgbClr val="CFE2E7"/>
      </a:lt2>
      <a:accent1>
        <a:srgbClr val="353535"/>
      </a:accent1>
      <a:accent2>
        <a:srgbClr val="1CACE3"/>
      </a:accent2>
      <a:accent3>
        <a:srgbClr val="FFFFFF"/>
      </a:accent3>
      <a:accent4>
        <a:srgbClr val="000000"/>
      </a:accent4>
      <a:accent5>
        <a:srgbClr val="AEAEAE"/>
      </a:accent5>
      <a:accent6>
        <a:srgbClr val="189BCE"/>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15549</Words>
  <Application>WPS Presentation</Application>
  <PresentationFormat>On-screen Show (16:9)</PresentationFormat>
  <Paragraphs>384</Paragraphs>
  <Slides>28</Slides>
  <Notes>9</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Arial</vt:lpstr>
      <vt:lpstr>Century Gothic</vt:lpstr>
      <vt:lpstr>Times New Roman</vt:lpstr>
      <vt:lpstr>Calibri</vt:lpstr>
      <vt:lpstr>Times New Roman</vt:lpstr>
      <vt:lpstr>Noto Sans Symbols</vt:lpstr>
      <vt:lpstr>Segoe Print</vt:lpstr>
      <vt:lpstr>Microsoft YaHei</vt:lpstr>
      <vt:lpstr>Arial Unicode MS</vt:lpstr>
      <vt:lpstr>Cambria</vt:lpstr>
      <vt:lpstr>默认设计模板</vt:lpstr>
      <vt:lpstr>Title: Train Accident Prevention Using IOT</vt:lpstr>
      <vt:lpstr>PowerPoint 演示文稿</vt:lpstr>
      <vt:lpstr>Agenda</vt:lpstr>
      <vt:lpstr>Abstract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&lt;write your project title&gt;</dc:title>
  <dc:creator>CHAYAPATHI-CPN</dc:creator>
  <cp:lastModifiedBy>win10</cp:lastModifiedBy>
  <cp:revision>44</cp:revision>
  <dcterms:created xsi:type="dcterms:W3CDTF">2023-12-08T16:05:00Z</dcterms:created>
  <dcterms:modified xsi:type="dcterms:W3CDTF">2023-12-09T06:36:42Z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30189370385340AF8E240334E6F1D219_13</vt:lpwstr>
  </property>
  <property fmtid="{D5CDD505-2E9C-101B-9397-08002B2CF9AE}" pid="3" name="KSOProductBuildVer">
    <vt:lpwstr>1033-12.2.0.13359</vt:lpwstr>
  </property>
</Properties>
</file>